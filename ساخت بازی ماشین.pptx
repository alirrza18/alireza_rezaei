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304" r:id="rId5"/>
    <p:sldId id="300" r:id="rId6"/>
    <p:sldId id="262" r:id="rId7"/>
    <p:sldId id="260" r:id="rId8"/>
    <p:sldId id="305" r:id="rId9"/>
    <p:sldId id="301" r:id="rId10"/>
    <p:sldId id="302" r:id="rId11"/>
    <p:sldId id="303" r:id="rId12"/>
    <p:sldId id="263" r:id="rId13"/>
    <p:sldId id="264" r:id="rId14"/>
    <p:sldId id="278" r:id="rId15"/>
    <p:sldId id="29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79" autoAdjust="0"/>
    <p:restoredTop sz="94660"/>
  </p:normalViewPr>
  <p:slideViewPr>
    <p:cSldViewPr snapToGrid="0">
      <p:cViewPr varScale="1">
        <p:scale>
          <a:sx n="82" d="100"/>
          <a:sy n="82" d="100"/>
        </p:scale>
        <p:origin x="9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FF5A53-2A73-4884-AD65-DE6005B3196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7BFA39-A6E7-448E-834C-79CACACB1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08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https://rashasite.ir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0422e078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40422e078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58d3b44f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58d3b44f0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58d3b44f08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58d3b44f08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5465e7bc0b_1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5465e7bc0b_1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58d3b44f08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58d3b44f08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58d3b44f08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58d3b44f08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40422e07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40422e07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58d3b44f08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58d3b44f08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9629E-2448-651A-18BE-51A3923A2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A10B88-62EF-5A5E-1468-44DA845EBB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1347A-25D3-56F6-958A-1BC81E8E1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41A40-56E5-422D-87E4-89CD5C775B5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F7728-A82C-57D1-8833-5A9D68A12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6C884-CC57-6BD0-4597-5A86F0E98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1E3D1-C94C-4E3C-AA6F-85AB1B5B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41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1C0AC-53A5-DA74-7AE3-AE243C2BD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1F966-6D57-DE94-D355-202C21FE3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803F2-24C4-7099-9F78-567EA7019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41A40-56E5-422D-87E4-89CD5C775B5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1745D-2D19-5785-1121-DD1F19B39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6CF21-F295-17DE-B6AE-9EDE33CE8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1E3D1-C94C-4E3C-AA6F-85AB1B5B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471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28F47-D897-7205-BE5A-1875FA264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7962A-99B8-6440-5F19-120F76B91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5474E-8B36-CC26-1DA0-3246498BC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41A40-56E5-422D-87E4-89CD5C775B5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F52A9-40E3-357B-EABA-BA0A148FE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9B66E-40F5-5E43-0FC9-283974B66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1E3D1-C94C-4E3C-AA6F-85AB1B5B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094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5F9EC-049C-C0B7-3213-CA6C31578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9011E-CAE5-F428-1091-5F780FD70E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6B475-83B8-0E73-22D2-DE3721327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928CC7-F6D0-7FE1-A7C2-DD9907EF6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41A40-56E5-422D-87E4-89CD5C775B5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C23A30-E163-05D8-E617-96AB3296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735F3-5456-3184-1488-6DE207AFD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1E3D1-C94C-4E3C-AA6F-85AB1B5B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80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B501D-9C39-8541-7C74-66039DEB1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2892DF-4DE8-98D7-EECB-9AE7A2A25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701E0-8855-9B2D-0B42-853B997172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FC0518-BFCD-ECFE-ECAD-D4F36C92FC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90E8EF-D660-7A91-51B9-B7D695EBCC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2EDDD-BC13-421F-427F-D6EBDD051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41A40-56E5-422D-87E4-89CD5C775B5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6A6D44-9AB0-49EB-8620-EB995D8B7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08B563-9002-2831-0CB0-05DF60FA2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1E3D1-C94C-4E3C-AA6F-85AB1B5B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61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803D4-56F4-C14D-DAF1-6E92A20C2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61150C-E784-EEA4-AFDC-411F0A082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41A40-56E5-422D-87E4-89CD5C775B5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198F7A-4292-8F7C-BEA5-6B6A3BCF7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655088-2E4B-AD3E-4F6B-47CA7473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1E3D1-C94C-4E3C-AA6F-85AB1B5B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03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F9C05F-B40B-0E70-B108-CA744C920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41A40-56E5-422D-87E4-89CD5C775B5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B1F367-A3C1-7601-C427-8BDC7BF11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E4F1A-7A6E-0B7D-1A65-262F2206D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1E3D1-C94C-4E3C-AA6F-85AB1B5B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083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E7B53-59B7-C4A3-01B1-9ED3AD6C6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D8AE9-C36E-6D1C-05DB-5D86DA108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8B971-ACED-8A92-E1CF-5EFB88434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FE839E-DFFD-CF6B-BEC4-76B2288DE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41A40-56E5-422D-87E4-89CD5C775B5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E04457-1D4F-690B-7EC8-6F07B88E9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270FD-BC70-74BC-2FF8-0E72F7446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1E3D1-C94C-4E3C-AA6F-85AB1B5B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819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B0BD7-2CC8-4F27-3062-55D2CC3F5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920712-7D52-D2B7-DADE-9EE10CFECF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430FC8-7B07-21A7-1E11-1942A0525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1F59C4-C6CB-5C38-3D0F-2CDB7CC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41A40-56E5-422D-87E4-89CD5C775B5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E87781-3A21-DC3E-B185-01AB82543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323CC4-CCAB-9A31-4BAF-F14558D59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1E3D1-C94C-4E3C-AA6F-85AB1B5B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235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FC765-4A0D-53B8-D896-07B72FDF6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5D081B-E043-BCA2-D0E5-36ACE2FBB5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301DE-2A44-7568-2812-D95C70411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41A40-56E5-422D-87E4-89CD5C775B5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FEFC5-2BE0-BAE2-FF17-18BAB905D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B8433-4068-0C02-F88A-7B385FF05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1E3D1-C94C-4E3C-AA6F-85AB1B5B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110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7884BD-3BC9-84D0-BE3B-167C3952FD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983CDF-5F9D-B43B-28FD-63591CE7C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1BE6C-C5FF-8DFA-0323-B63D59466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41A40-56E5-422D-87E4-89CD5C775B5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D5723-00D5-5EAD-0C93-E70D3C5D9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2993C-7201-8753-4553-8BEE605E5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1E3D1-C94C-4E3C-AA6F-85AB1B5B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8991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 userDrawn="1">
  <p:cSld name="Opening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1482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userDrawn="1">
  <p:cSld name="Table of content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391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1" userDrawn="1">
  <p:cSld name="Section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61459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title" userDrawn="1">
  <p:cSld name="Title + sub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90586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 userDrawn="1">
  <p:cSld name="Title + Desig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92812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2" userDrawn="1">
  <p:cSld name="Section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78748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photo" userDrawn="1">
  <p:cSld name="Text + phot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44985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3" userDrawn="1">
  <p:cSld name="Section 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89916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5" userDrawn="1">
  <p:cSld name="Title + Design 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37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575417-64D6-FD4D-33E0-1A768BA77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02A23-124D-B4AE-C475-226666FE2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9EC2B-F154-057E-620E-D9B6BE62F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41A40-56E5-422D-87E4-89CD5C775B5F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45583-3902-0822-5A49-9BAECEA461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3A40D-1AAE-2854-2522-42C0432822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21E3D1-C94C-4E3C-AA6F-85AB1B5B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25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5" r:id="rId16"/>
    <p:sldLayoutId id="2147483666" r:id="rId17"/>
    <p:sldLayoutId id="2147483667" r:id="rId18"/>
    <p:sldLayoutId id="2147483669" r:id="rId19"/>
    <p:sldLayoutId id="214748367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 txBox="1">
            <a:spLocks noGrp="1"/>
          </p:cNvSpPr>
          <p:nvPr>
            <p:ph type="ctrTitle" idx="4294967295"/>
          </p:nvPr>
        </p:nvSpPr>
        <p:spPr>
          <a:xfrm>
            <a:off x="7315199" y="491318"/>
            <a:ext cx="4427979" cy="103224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lvl="0" algn="r" rtl="1"/>
            <a:r>
              <a:rPr lang="fa-IR" sz="5333" dirty="0">
                <a:solidFill>
                  <a:srgbClr val="434343"/>
                </a:solidFill>
                <a:latin typeface="+mn-lt"/>
                <a:cs typeface="B Nazanin" panose="00000400000000000000" pitchFamily="2" charset="-78"/>
              </a:rPr>
              <a:t>ساخت بازی ماشین</a:t>
            </a:r>
          </a:p>
        </p:txBody>
      </p:sp>
      <p:cxnSp>
        <p:nvCxnSpPr>
          <p:cNvPr id="138" name="Google Shape;138;p28"/>
          <p:cNvCxnSpPr/>
          <p:nvPr/>
        </p:nvCxnSpPr>
        <p:spPr>
          <a:xfrm>
            <a:off x="9289835" y="3402944"/>
            <a:ext cx="278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262;p27"/>
          <p:cNvSpPr txBox="1">
            <a:spLocks/>
          </p:cNvSpPr>
          <p:nvPr/>
        </p:nvSpPr>
        <p:spPr>
          <a:xfrm>
            <a:off x="8423430" y="4394553"/>
            <a:ext cx="3648405" cy="672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14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r" rtl="1">
              <a:spcBef>
                <a:spcPts val="1067"/>
              </a:spcBef>
            </a:pPr>
            <a:r>
              <a:rPr lang="en-US" sz="3200" b="1" i="1" dirty="0" err="1">
                <a:solidFill>
                  <a:schemeClr val="tx1"/>
                </a:solidFill>
                <a:latin typeface="Mistral" panose="03090702030407020403" pitchFamily="66" charset="0"/>
                <a:cs typeface="B Nazanin" panose="00000400000000000000" pitchFamily="2" charset="-78"/>
              </a:rPr>
              <a:t>Alireza_Rezaei</a:t>
            </a:r>
            <a:endParaRPr lang="fa-IR" sz="3200" b="1" i="1" dirty="0">
              <a:solidFill>
                <a:schemeClr val="tx1"/>
              </a:solidFill>
              <a:latin typeface="Mistral" panose="03090702030407020403" pitchFamily="66" charset="0"/>
              <a:cs typeface="B Nazanin" panose="00000400000000000000" pitchFamily="2" charset="-78"/>
            </a:endParaRPr>
          </a:p>
        </p:txBody>
      </p:sp>
      <p:sp>
        <p:nvSpPr>
          <p:cNvPr id="2" name="Google Shape;262;p27">
            <a:extLst>
              <a:ext uri="{FF2B5EF4-FFF2-40B4-BE49-F238E27FC236}">
                <a16:creationId xmlns:a16="http://schemas.microsoft.com/office/drawing/2014/main" id="{46F20FB0-65AC-45AF-04D5-0D8D3D872315}"/>
              </a:ext>
            </a:extLst>
          </p:cNvPr>
          <p:cNvSpPr txBox="1">
            <a:spLocks/>
          </p:cNvSpPr>
          <p:nvPr/>
        </p:nvSpPr>
        <p:spPr>
          <a:xfrm>
            <a:off x="8467914" y="4814352"/>
            <a:ext cx="3648405" cy="672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14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r" rtl="1">
              <a:spcBef>
                <a:spcPts val="1067"/>
              </a:spcBef>
            </a:pPr>
            <a:r>
              <a:rPr lang="fa-IR" sz="3200" b="1" dirty="0">
                <a:solidFill>
                  <a:schemeClr val="tx1"/>
                </a:solidFill>
                <a:cs typeface="B Nazanin" panose="00000400000000000000" pitchFamily="2" charset="-78"/>
              </a:rPr>
              <a:t>علیرضا رضایی</a:t>
            </a:r>
          </a:p>
        </p:txBody>
      </p:sp>
      <p:sp>
        <p:nvSpPr>
          <p:cNvPr id="3" name="Google Shape;262;p27">
            <a:extLst>
              <a:ext uri="{FF2B5EF4-FFF2-40B4-BE49-F238E27FC236}">
                <a16:creationId xmlns:a16="http://schemas.microsoft.com/office/drawing/2014/main" id="{ED8C998E-A993-FDCC-DE3E-B9D18988BAE7}"/>
              </a:ext>
            </a:extLst>
          </p:cNvPr>
          <p:cNvSpPr txBox="1">
            <a:spLocks/>
          </p:cNvSpPr>
          <p:nvPr/>
        </p:nvSpPr>
        <p:spPr>
          <a:xfrm>
            <a:off x="7985016" y="5486409"/>
            <a:ext cx="4175787" cy="672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14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r" rtl="1">
              <a:spcBef>
                <a:spcPts val="1067"/>
              </a:spcBef>
            </a:pPr>
            <a:r>
              <a:rPr lang="fa-IR" sz="3200" b="1" dirty="0">
                <a:solidFill>
                  <a:schemeClr val="tx1"/>
                </a:solidFill>
                <a:cs typeface="B Nazanin" panose="00000400000000000000" pitchFamily="2" charset="-78"/>
              </a:rPr>
              <a:t>استاد:محمد یاسین داووده</a:t>
            </a:r>
          </a:p>
        </p:txBody>
      </p:sp>
      <p:sp>
        <p:nvSpPr>
          <p:cNvPr id="4" name="Google Shape;137;p28">
            <a:extLst>
              <a:ext uri="{FF2B5EF4-FFF2-40B4-BE49-F238E27FC236}">
                <a16:creationId xmlns:a16="http://schemas.microsoft.com/office/drawing/2014/main" id="{78C3DAE6-667B-BF05-4C25-A5CFF84F4FE2}"/>
              </a:ext>
            </a:extLst>
          </p:cNvPr>
          <p:cNvSpPr txBox="1">
            <a:spLocks/>
          </p:cNvSpPr>
          <p:nvPr/>
        </p:nvSpPr>
        <p:spPr>
          <a:xfrm>
            <a:off x="6475445" y="3563711"/>
            <a:ext cx="5716554" cy="103224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/>
            <a:r>
              <a:rPr lang="ar-SA" sz="3600" b="1" dirty="0">
                <a:cs typeface="B Nazanin" panose="00000400000000000000" pitchFamily="2" charset="-78"/>
              </a:rPr>
              <a:t>محیط توسعه:</a:t>
            </a:r>
            <a:r>
              <a:rPr lang="ar-SA" sz="3600" dirty="0">
                <a:cs typeface="B Nazanin" panose="00000400000000000000" pitchFamily="2" charset="-78"/>
              </a:rPr>
              <a:t> </a:t>
            </a:r>
            <a:r>
              <a:rPr lang="en-US" sz="3600" dirty="0">
                <a:cs typeface="B Nazanin" panose="00000400000000000000" pitchFamily="2" charset="-78"/>
              </a:rPr>
              <a:t>MIT App Inventor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ACA9E6-3769-96D1-3461-B124E9D1D8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0254" y="1045090"/>
            <a:ext cx="1874945" cy="20551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28E952-05AF-D788-7442-7AF41C607A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82062">
            <a:off x="10794930" y="1972840"/>
            <a:ext cx="1219370" cy="12193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47D9ECB-1E26-B9A9-010C-9CC0358335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60024">
            <a:off x="333578" y="4371087"/>
            <a:ext cx="2069763" cy="20583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8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8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8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800" fill="hold">
                                          <p:stCondLst>
                                            <p:cond delay="3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8" name="Google Shape;158;p30"/>
          <p:cNvCxnSpPr/>
          <p:nvPr/>
        </p:nvCxnSpPr>
        <p:spPr>
          <a:xfrm>
            <a:off x="4396300" y="0"/>
            <a:ext cx="0" cy="319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" name="Google Shape;159;p30"/>
          <p:cNvCxnSpPr/>
          <p:nvPr/>
        </p:nvCxnSpPr>
        <p:spPr>
          <a:xfrm>
            <a:off x="7815933" y="4175200"/>
            <a:ext cx="0" cy="270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5C7DA40-5E5D-D1CB-45DA-82871ABC0390}"/>
              </a:ext>
            </a:extLst>
          </p:cNvPr>
          <p:cNvSpPr txBox="1"/>
          <p:nvPr/>
        </p:nvSpPr>
        <p:spPr>
          <a:xfrm>
            <a:off x="4961552" y="2930963"/>
            <a:ext cx="665505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2000" b="1" dirty="0">
                <a:cs typeface="B Nazanin" panose="00000400000000000000" pitchFamily="2" charset="-78"/>
              </a:rPr>
              <a:t>در این بازی، بازیکن با کشیدن ماشین، از برخورد با ماشین‌های دشمن جلوگیری می‌کند و با گذشت زمان امتیاز و سطح افزایش می‌یابد.</a:t>
            </a:r>
            <a:r>
              <a:rPr lang="fa-IR" sz="2000" b="1" dirty="0">
                <a:cs typeface="B Nazanin" panose="00000400000000000000" pitchFamily="2" charset="-78"/>
              </a:rPr>
              <a:t> هر چه زمان بیشتری طی شود سرعت ماشین نیز بیشتر میشود.</a:t>
            </a:r>
            <a:endParaRPr lang="en-US" sz="2000" b="1" dirty="0">
              <a:cs typeface="B Nazanin" panose="000004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12C109-8756-C604-9AD8-05B62BEEEB0D}"/>
              </a:ext>
            </a:extLst>
          </p:cNvPr>
          <p:cNvSpPr txBox="1"/>
          <p:nvPr/>
        </p:nvSpPr>
        <p:spPr>
          <a:xfrm>
            <a:off x="5781040" y="1831942"/>
            <a:ext cx="46070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800" b="1" dirty="0">
                <a:cs typeface="B Nazanin" panose="00000400000000000000" pitchFamily="2" charset="-78"/>
              </a:rPr>
              <a:t>توضیح مختصر در مورد خود بازی</a:t>
            </a:r>
            <a:endParaRPr lang="en-US" sz="2800" b="1" dirty="0">
              <a:cs typeface="B Nazanin" panose="00000400000000000000" pitchFamily="2" charset="-7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20DB0B-BA5B-23B7-8C4F-14F79E04DB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094071">
            <a:off x="498300" y="787950"/>
            <a:ext cx="2611203" cy="26112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5519E7-5B22-5A6E-06B3-E1F66A695A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616223">
            <a:off x="4588641" y="4790604"/>
            <a:ext cx="1974720" cy="1974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>
            <a:spLocks noGrp="1"/>
          </p:cNvSpPr>
          <p:nvPr>
            <p:ph type="title" idx="4294967295"/>
          </p:nvPr>
        </p:nvSpPr>
        <p:spPr>
          <a:xfrm flipH="1">
            <a:off x="68637" y="456195"/>
            <a:ext cx="1301532" cy="100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fa-IR" sz="15333" dirty="0"/>
              <a:t>1</a:t>
            </a:r>
            <a:endParaRPr sz="15333" dirty="0"/>
          </a:p>
        </p:txBody>
      </p:sp>
      <p:cxnSp>
        <p:nvCxnSpPr>
          <p:cNvPr id="177" name="Google Shape;177;p31"/>
          <p:cNvCxnSpPr/>
          <p:nvPr/>
        </p:nvCxnSpPr>
        <p:spPr>
          <a:xfrm>
            <a:off x="0" y="2084301"/>
            <a:ext cx="208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175;p31">
            <a:extLst>
              <a:ext uri="{FF2B5EF4-FFF2-40B4-BE49-F238E27FC236}">
                <a16:creationId xmlns:a16="http://schemas.microsoft.com/office/drawing/2014/main" id="{C8756203-C623-5263-3888-B84DF7349C2B}"/>
              </a:ext>
            </a:extLst>
          </p:cNvPr>
          <p:cNvSpPr txBox="1">
            <a:spLocks/>
          </p:cNvSpPr>
          <p:nvPr/>
        </p:nvSpPr>
        <p:spPr>
          <a:xfrm flipH="1">
            <a:off x="178019" y="456195"/>
            <a:ext cx="5500464" cy="1362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>
              <a:spcBef>
                <a:spcPts val="0"/>
              </a:spcBef>
            </a:pPr>
            <a:r>
              <a:rPr lang="ar-SA" sz="5400" b="1" dirty="0">
                <a:cs typeface="B Nazanin" panose="00000400000000000000" pitchFamily="2" charset="-78"/>
              </a:rPr>
              <a:t>اجزای اصلی برنامه </a:t>
            </a:r>
            <a:r>
              <a:rPr lang="en-US" sz="5400" b="1" dirty="0">
                <a:cs typeface="B Nazanin" panose="00000400000000000000" pitchFamily="2" charset="-78"/>
              </a:rPr>
              <a:t>Components</a:t>
            </a:r>
            <a:endParaRPr lang="en-US" sz="5333" b="1" dirty="0">
              <a:cs typeface="B Nazanin" panose="00000400000000000000" pitchFamily="2" charset="-7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4333AB-3A57-5E19-8501-5CEFDD742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980" y="2273080"/>
            <a:ext cx="502484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Canvas1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محیط اصلی بازی و جاده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player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ImageSprite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ماشین بازیکن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Enemy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ImageSprite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ماشین دشمن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a-IR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Clock1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کنترل حرکت و سرعت بازی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Notifier1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نمایش پیام‌ها (راهنما و پایان بازی)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Sound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GameStart.mp3 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(صدای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شروع بازی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GameOver.mp3 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(صدای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پایان بازی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Buttons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reset 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شروع مجدد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 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صفحه اطلاعات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955818-CE0C-EA5D-3215-2AAF55E00702}"/>
              </a:ext>
            </a:extLst>
          </p:cNvPr>
          <p:cNvSpPr txBox="1"/>
          <p:nvPr/>
        </p:nvSpPr>
        <p:spPr>
          <a:xfrm>
            <a:off x="904240" y="2876957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2400" b="1" dirty="0">
                <a:cs typeface="B Nazanin" panose="00000400000000000000" pitchFamily="2" charset="-78"/>
              </a:rPr>
              <a:t>صفحه </a:t>
            </a:r>
            <a:r>
              <a:rPr lang="fa-IR" sz="2400" b="1" dirty="0">
                <a:cs typeface="B Nazanin" panose="00000400000000000000" pitchFamily="2" charset="-78"/>
              </a:rPr>
              <a:t> </a:t>
            </a:r>
            <a:r>
              <a:rPr lang="en-US" sz="2400" b="1" dirty="0">
                <a:cs typeface="B Nazanin" panose="00000400000000000000" pitchFamily="2" charset="-78"/>
              </a:rPr>
              <a:t>Designer </a:t>
            </a:r>
            <a:r>
              <a:rPr lang="fa-IR" sz="2400" b="1" dirty="0">
                <a:cs typeface="B Nazanin" panose="00000400000000000000" pitchFamily="2" charset="-78"/>
              </a:rPr>
              <a:t> </a:t>
            </a:r>
            <a:endParaRPr lang="ar-SA" sz="2400" b="1" dirty="0">
              <a:cs typeface="B Nazanin" panose="00000400000000000000" pitchFamily="2" charset="-78"/>
            </a:endParaRPr>
          </a:p>
          <a:p>
            <a:pPr algn="r" rtl="1"/>
            <a:r>
              <a:rPr lang="ar-SA" sz="2400" dirty="0">
                <a:cs typeface="B Nazanin" panose="00000400000000000000" pitchFamily="2" charset="-78"/>
              </a:rPr>
              <a:t>در این بخش، چیدمان عناصر گرافیکی بازی انجام شده است. </a:t>
            </a:r>
            <a:r>
              <a:rPr lang="fa-IR" sz="2400" dirty="0">
                <a:cs typeface="B Nazanin" panose="00000400000000000000" pitchFamily="2" charset="-78"/>
              </a:rPr>
              <a:t>     </a:t>
            </a:r>
            <a:r>
              <a:rPr lang="en-US" sz="2400" dirty="0">
                <a:cs typeface="B Nazanin" panose="00000400000000000000" pitchFamily="2" charset="-78"/>
              </a:rPr>
              <a:t>Canvas </a:t>
            </a:r>
            <a:r>
              <a:rPr lang="fa-IR" sz="2400" dirty="0">
                <a:cs typeface="B Nazanin" panose="00000400000000000000" pitchFamily="2" charset="-78"/>
              </a:rPr>
              <a:t> </a:t>
            </a:r>
            <a:r>
              <a:rPr lang="ar-SA" sz="2400" dirty="0">
                <a:cs typeface="B Nazanin" panose="00000400000000000000" pitchFamily="2" charset="-78"/>
              </a:rPr>
              <a:t>به‌عنوان زمین بازی استفاده شده و ماشین بازیکن و دشمن به‌صورت </a:t>
            </a:r>
            <a:r>
              <a:rPr lang="en-US" sz="2400" dirty="0" err="1">
                <a:cs typeface="B Nazanin" panose="00000400000000000000" pitchFamily="2" charset="-78"/>
              </a:rPr>
              <a:t>ImageSprite</a:t>
            </a:r>
            <a:r>
              <a:rPr lang="en-US" sz="2400" dirty="0">
                <a:cs typeface="B Nazanin" panose="00000400000000000000" pitchFamily="2" charset="-78"/>
              </a:rPr>
              <a:t> </a:t>
            </a:r>
            <a:r>
              <a:rPr lang="fa-IR" sz="2400" dirty="0">
                <a:cs typeface="B Nazanin" panose="00000400000000000000" pitchFamily="2" charset="-78"/>
              </a:rPr>
              <a:t> </a:t>
            </a:r>
            <a:r>
              <a:rPr lang="ar-SA" sz="2400" dirty="0">
                <a:cs typeface="B Nazanin" panose="00000400000000000000" pitchFamily="2" charset="-78"/>
              </a:rPr>
              <a:t>روی آن قرار گرفته‌اند. دکمه‌های </a:t>
            </a:r>
            <a:r>
              <a:rPr lang="en-US" sz="2400" dirty="0">
                <a:cs typeface="B Nazanin" panose="00000400000000000000" pitchFamily="2" charset="-78"/>
              </a:rPr>
              <a:t>Reset </a:t>
            </a:r>
            <a:r>
              <a:rPr lang="ar-SA" sz="2400" dirty="0">
                <a:cs typeface="B Nazanin" panose="00000400000000000000" pitchFamily="2" charset="-78"/>
              </a:rPr>
              <a:t>و </a:t>
            </a:r>
            <a:r>
              <a:rPr lang="en-US" sz="2400" dirty="0">
                <a:cs typeface="B Nazanin" panose="00000400000000000000" pitchFamily="2" charset="-78"/>
              </a:rPr>
              <a:t>Info </a:t>
            </a:r>
            <a:r>
              <a:rPr lang="ar-SA" sz="2400" dirty="0">
                <a:cs typeface="B Nazanin" panose="00000400000000000000" pitchFamily="2" charset="-78"/>
              </a:rPr>
              <a:t>برای کنترل بازی و نمایش اطلاعات طراحی شده‌اند و فایل‌های صوتی و تصویری موردنیاز در قسمت </a:t>
            </a:r>
            <a:r>
              <a:rPr lang="en-US" sz="2400" dirty="0">
                <a:cs typeface="B Nazanin" panose="00000400000000000000" pitchFamily="2" charset="-78"/>
              </a:rPr>
              <a:t>Media </a:t>
            </a:r>
            <a:r>
              <a:rPr lang="fa-IR" sz="2400" dirty="0">
                <a:cs typeface="B Nazanin" panose="00000400000000000000" pitchFamily="2" charset="-78"/>
              </a:rPr>
              <a:t> </a:t>
            </a:r>
            <a:r>
              <a:rPr lang="ar-SA" sz="2400" dirty="0">
                <a:cs typeface="B Nazanin" panose="00000400000000000000" pitchFamily="2" charset="-78"/>
              </a:rPr>
              <a:t>بارگذاری شده‌اند.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A4DAF9-EF91-66AC-0E05-EB871F1F29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580" y="1796594"/>
            <a:ext cx="1465629" cy="977086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3FCA16C-212C-E253-FA84-3FCA104A11B7}"/>
              </a:ext>
            </a:extLst>
          </p:cNvPr>
          <p:cNvSpPr/>
          <p:nvPr/>
        </p:nvSpPr>
        <p:spPr>
          <a:xfrm>
            <a:off x="2677209" y="2106498"/>
            <a:ext cx="873760" cy="357278"/>
          </a:xfrm>
          <a:prstGeom prst="roundRect">
            <a:avLst/>
          </a:prstGeom>
          <a:solidFill>
            <a:srgbClr val="FFC000"/>
          </a:solidFill>
          <a:effectLst>
            <a:reflection blurRad="6350" stA="50000" endA="3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392977602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8089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75;p31"/>
          <p:cNvSpPr txBox="1">
            <a:spLocks noGrp="1"/>
          </p:cNvSpPr>
          <p:nvPr>
            <p:ph type="ctrTitle" idx="4294967295"/>
          </p:nvPr>
        </p:nvSpPr>
        <p:spPr>
          <a:xfrm flipH="1">
            <a:off x="4602541" y="2660915"/>
            <a:ext cx="5525907" cy="1362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r" rtl="1">
              <a:spcBef>
                <a:spcPts val="0"/>
              </a:spcBef>
            </a:pPr>
            <a:r>
              <a:rPr lang="fa-IR" sz="5333" dirty="0">
                <a:cs typeface="B Titr" panose="00000700000000000000" pitchFamily="2" charset="-78"/>
              </a:rPr>
              <a:t>بخش </a:t>
            </a:r>
            <a:r>
              <a:rPr lang="en-US" sz="5333" dirty="0">
                <a:cs typeface="B Titr" panose="00000700000000000000" pitchFamily="2" charset="-78"/>
              </a:rPr>
              <a:t>Block </a:t>
            </a:r>
            <a:endParaRPr sz="5333" dirty="0">
              <a:cs typeface="B Titr" panose="00000700000000000000" pitchFamily="2" charset="-78"/>
            </a:endParaRPr>
          </a:p>
        </p:txBody>
      </p:sp>
      <p:sp>
        <p:nvSpPr>
          <p:cNvPr id="10" name="Google Shape;176;p31"/>
          <p:cNvSpPr txBox="1">
            <a:spLocks noGrp="1"/>
          </p:cNvSpPr>
          <p:nvPr>
            <p:ph type="title" idx="4294967295"/>
          </p:nvPr>
        </p:nvSpPr>
        <p:spPr>
          <a:xfrm flipH="1">
            <a:off x="10320470" y="2063757"/>
            <a:ext cx="1301532" cy="100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fa-IR" sz="15333" dirty="0"/>
              <a:t>2</a:t>
            </a:r>
            <a:endParaRPr sz="15333" dirty="0"/>
          </a:p>
        </p:txBody>
      </p:sp>
      <p:sp>
        <p:nvSpPr>
          <p:cNvPr id="11" name="Google Shape;342;p31"/>
          <p:cNvSpPr txBox="1">
            <a:spLocks noGrp="1"/>
          </p:cNvSpPr>
          <p:nvPr>
            <p:ph type="subTitle" idx="4294967295"/>
          </p:nvPr>
        </p:nvSpPr>
        <p:spPr>
          <a:xfrm>
            <a:off x="5423925" y="4389107"/>
            <a:ext cx="4608512" cy="98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r" rtl="1">
              <a:spcBef>
                <a:spcPts val="0"/>
              </a:spcBef>
              <a:buNone/>
            </a:pPr>
            <a:r>
              <a:rPr lang="fa-IR" sz="2400" b="1" dirty="0">
                <a:cs typeface="B Nazanin" panose="00000400000000000000" pitchFamily="2" charset="-78"/>
              </a:rPr>
              <a:t>توضیحاتی در بخش کد نویسی برنامه</a:t>
            </a:r>
            <a:endParaRPr sz="2400" b="1" dirty="0">
              <a:cs typeface="B Nazanin" panose="00000400000000000000" pitchFamily="2" charset="-78"/>
            </a:endParaRPr>
          </a:p>
        </p:txBody>
      </p:sp>
      <p:cxnSp>
        <p:nvCxnSpPr>
          <p:cNvPr id="12" name="Google Shape;314;p39"/>
          <p:cNvCxnSpPr/>
          <p:nvPr/>
        </p:nvCxnSpPr>
        <p:spPr>
          <a:xfrm>
            <a:off x="9744406" y="4022549"/>
            <a:ext cx="250549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" name="Google Shape;185;p32"/>
          <p:cNvCxnSpPr/>
          <p:nvPr/>
        </p:nvCxnSpPr>
        <p:spPr>
          <a:xfrm>
            <a:off x="6096000" y="376456"/>
            <a:ext cx="6099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" name="Google Shape;186;p32"/>
          <p:cNvCxnSpPr/>
          <p:nvPr/>
        </p:nvCxnSpPr>
        <p:spPr>
          <a:xfrm>
            <a:off x="0" y="5904957"/>
            <a:ext cx="6099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462B711-FAC7-CF8C-AF95-972457BF74B3}"/>
              </a:ext>
            </a:extLst>
          </p:cNvPr>
          <p:cNvSpPr txBox="1"/>
          <p:nvPr/>
        </p:nvSpPr>
        <p:spPr>
          <a:xfrm>
            <a:off x="5389880" y="542560"/>
            <a:ext cx="68021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2400" b="1" dirty="0">
                <a:highlight>
                  <a:srgbClr val="C0C0C0"/>
                </a:highlight>
                <a:cs typeface="B Nazanin" panose="00000400000000000000" pitchFamily="2" charset="-78"/>
              </a:rPr>
              <a:t>متغیرهای سراسری </a:t>
            </a:r>
            <a:r>
              <a:rPr lang="en-US" sz="2400" b="1" dirty="0">
                <a:highlight>
                  <a:srgbClr val="C0C0C0"/>
                </a:highlight>
                <a:cs typeface="B Nazanin" panose="00000400000000000000" pitchFamily="2" charset="-78"/>
              </a:rPr>
              <a:t>Global Variables</a:t>
            </a:r>
          </a:p>
          <a:p>
            <a:pPr algn="r" rtl="1"/>
            <a:endParaRPr lang="en-US" sz="2400" b="1" dirty="0">
              <a:highlight>
                <a:srgbClr val="C0C0C0"/>
              </a:highlight>
              <a:cs typeface="B Nazanin" panose="00000400000000000000" pitchFamily="2" charset="-7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rgbClr val="C0C0C0"/>
                </a:highlight>
                <a:cs typeface="B Nazanin" panose="00000400000000000000" pitchFamily="2" charset="-78"/>
              </a:rPr>
              <a:t>Score → </a:t>
            </a:r>
            <a:r>
              <a:rPr lang="ar-SA" sz="2400" dirty="0">
                <a:highlight>
                  <a:srgbClr val="C0C0C0"/>
                </a:highlight>
                <a:cs typeface="B Nazanin" panose="00000400000000000000" pitchFamily="2" charset="-78"/>
              </a:rPr>
              <a:t>نگهداری امتیاز بازیکن</a:t>
            </a:r>
            <a:r>
              <a:rPr lang="fa-IR" sz="2400" dirty="0">
                <a:highlight>
                  <a:srgbClr val="C0C0C0"/>
                </a:highlight>
                <a:cs typeface="B Nazanin" panose="00000400000000000000" pitchFamily="2" charset="-78"/>
              </a:rPr>
              <a:t>(بر اساس زمان سپری شده)</a:t>
            </a:r>
            <a:endParaRPr lang="ar-SA" sz="2400" dirty="0">
              <a:highlight>
                <a:srgbClr val="C0C0C0"/>
              </a:highlight>
              <a:cs typeface="B Nazanin" panose="00000400000000000000" pitchFamily="2" charset="-7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rgbClr val="C0C0C0"/>
                </a:highlight>
                <a:cs typeface="B Nazanin" panose="00000400000000000000" pitchFamily="2" charset="-78"/>
              </a:rPr>
              <a:t>Speed → </a:t>
            </a:r>
            <a:r>
              <a:rPr lang="ar-SA" sz="2400" dirty="0">
                <a:highlight>
                  <a:srgbClr val="C0C0C0"/>
                </a:highlight>
                <a:cs typeface="B Nazanin" panose="00000400000000000000" pitchFamily="2" charset="-78"/>
              </a:rPr>
              <a:t>سرعت حرکت ماشین دشمن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rgbClr val="C0C0C0"/>
                </a:highlight>
                <a:cs typeface="B Nazanin" panose="00000400000000000000" pitchFamily="2" charset="-78"/>
              </a:rPr>
              <a:t>Level → </a:t>
            </a:r>
            <a:r>
              <a:rPr lang="ar-SA" sz="2400" dirty="0">
                <a:highlight>
                  <a:srgbClr val="C0C0C0"/>
                </a:highlight>
                <a:cs typeface="B Nazanin" panose="00000400000000000000" pitchFamily="2" charset="-78"/>
              </a:rPr>
              <a:t>سطح بازی</a:t>
            </a:r>
            <a:endParaRPr lang="fa-IR" sz="2400" dirty="0">
              <a:highlight>
                <a:srgbClr val="C0C0C0"/>
              </a:highlight>
              <a:cs typeface="B Nazanin" panose="00000400000000000000" pitchFamily="2" charset="-78"/>
            </a:endParaRPr>
          </a:p>
          <a:p>
            <a:pPr>
              <a:buFont typeface="Arial" panose="020B0604020202020204" pitchFamily="34" charset="0"/>
              <a:buChar char="•"/>
            </a:pPr>
            <a:endParaRPr lang="fa-IR" sz="2400" dirty="0">
              <a:highlight>
                <a:srgbClr val="C0C0C0"/>
              </a:highlight>
              <a:cs typeface="B Nazanin" panose="00000400000000000000" pitchFamily="2" charset="-78"/>
            </a:endParaRPr>
          </a:p>
          <a:p>
            <a:endParaRPr lang="ar-SA" sz="2400" dirty="0">
              <a:highlight>
                <a:srgbClr val="C0C0C0"/>
              </a:highlight>
              <a:cs typeface="B Nazanin" panose="00000400000000000000" pitchFamily="2" charset="-78"/>
            </a:endParaRPr>
          </a:p>
          <a:p>
            <a:r>
              <a:rPr lang="ar-SA" sz="2400" dirty="0">
                <a:highlight>
                  <a:srgbClr val="C0C0C0"/>
                </a:highlight>
                <a:cs typeface="B Nazanin" panose="00000400000000000000" pitchFamily="2" charset="-78"/>
              </a:rPr>
              <a:t>این متغیرها باعث می‌شوند سختی بازی به‌صورت تدریجی افزایش یابد.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1AA37B-3F80-1C0A-5B21-EC4392182112}"/>
              </a:ext>
            </a:extLst>
          </p:cNvPr>
          <p:cNvSpPr txBox="1"/>
          <p:nvPr/>
        </p:nvSpPr>
        <p:spPr>
          <a:xfrm>
            <a:off x="6197600" y="3692545"/>
            <a:ext cx="56794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b="1" dirty="0">
                <a:highlight>
                  <a:srgbClr val="C0C0C0"/>
                </a:highlight>
                <a:cs typeface="B Nazanin" panose="00000400000000000000" pitchFamily="2" charset="-78"/>
              </a:rPr>
              <a:t>توابع</a:t>
            </a:r>
            <a:r>
              <a:rPr lang="fa-IR" b="1" dirty="0">
                <a:highlight>
                  <a:srgbClr val="C0C0C0"/>
                </a:highlight>
                <a:cs typeface="B Nazanin" panose="00000400000000000000" pitchFamily="2" charset="-78"/>
              </a:rPr>
              <a:t> </a:t>
            </a:r>
            <a:r>
              <a:rPr lang="ar-SA" b="1" dirty="0">
                <a:highlight>
                  <a:srgbClr val="C0C0C0"/>
                </a:highlight>
                <a:cs typeface="B Nazanin" panose="00000400000000000000" pitchFamily="2" charset="-78"/>
              </a:rPr>
              <a:t> </a:t>
            </a:r>
            <a:r>
              <a:rPr lang="en-US" b="1" dirty="0">
                <a:highlight>
                  <a:srgbClr val="C0C0C0"/>
                </a:highlight>
                <a:cs typeface="B Nazanin" panose="00000400000000000000" pitchFamily="2" charset="-78"/>
              </a:rPr>
              <a:t>Procedures</a:t>
            </a:r>
            <a:r>
              <a:rPr lang="fa-IR" b="1" dirty="0">
                <a:highlight>
                  <a:srgbClr val="C0C0C0"/>
                </a:highlight>
                <a:cs typeface="B Nazanin" panose="00000400000000000000" pitchFamily="2" charset="-78"/>
              </a:rPr>
              <a:t> </a:t>
            </a:r>
          </a:p>
          <a:p>
            <a:pPr algn="r" rtl="1"/>
            <a:endParaRPr lang="fa-IR" b="1" dirty="0">
              <a:highlight>
                <a:srgbClr val="C0C0C0"/>
              </a:highlight>
              <a:cs typeface="B Nazanin" panose="00000400000000000000" pitchFamily="2" charset="-78"/>
            </a:endParaRPr>
          </a:p>
          <a:p>
            <a:pPr algn="r" rtl="1"/>
            <a:r>
              <a:rPr lang="fa-IR" b="1" dirty="0">
                <a:highlight>
                  <a:srgbClr val="C0C0C0"/>
                </a:highlight>
                <a:cs typeface="B Nazanin" panose="00000400000000000000" pitchFamily="2" charset="-78"/>
              </a:rPr>
              <a:t> </a:t>
            </a:r>
            <a:endParaRPr lang="en-US" b="1" dirty="0">
              <a:highlight>
                <a:srgbClr val="C0C0C0"/>
              </a:highlight>
              <a:cs typeface="B Nazanin" panose="00000400000000000000" pitchFamily="2" charset="-78"/>
            </a:endParaRPr>
          </a:p>
          <a:p>
            <a:pPr algn="r" rtl="1"/>
            <a:r>
              <a:rPr lang="en-US" b="1" dirty="0" err="1">
                <a:highlight>
                  <a:srgbClr val="C0C0C0"/>
                </a:highlight>
                <a:cs typeface="B Nazanin" panose="00000400000000000000" pitchFamily="2" charset="-78"/>
              </a:rPr>
              <a:t>MyCarLocation</a:t>
            </a:r>
            <a:endParaRPr lang="en-US" b="1" dirty="0">
              <a:highlight>
                <a:srgbClr val="C0C0C0"/>
              </a:highlight>
              <a:cs typeface="B Nazanin" panose="00000400000000000000" pitchFamily="2" charset="-78"/>
            </a:endParaRP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dirty="0">
                <a:highlight>
                  <a:srgbClr val="C0C0C0"/>
                </a:highlight>
                <a:cs typeface="B Nazanin" panose="00000400000000000000" pitchFamily="2" charset="-78"/>
              </a:rPr>
              <a:t>تعیین موقعیت اولیه ماشین بازیکن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dirty="0">
                <a:highlight>
                  <a:srgbClr val="C0C0C0"/>
                </a:highlight>
                <a:cs typeface="B Nazanin" panose="00000400000000000000" pitchFamily="2" charset="-78"/>
              </a:rPr>
              <a:t>قرار دادن ماشین در وسط پایین صفحه</a:t>
            </a:r>
          </a:p>
          <a:p>
            <a:pPr algn="r" rtl="1"/>
            <a:r>
              <a:rPr lang="en-US" b="1" dirty="0" err="1">
                <a:highlight>
                  <a:srgbClr val="C0C0C0"/>
                </a:highlight>
                <a:cs typeface="B Nazanin" panose="00000400000000000000" pitchFamily="2" charset="-78"/>
              </a:rPr>
              <a:t>LocationAuto</a:t>
            </a:r>
            <a:endParaRPr lang="en-US" b="1" dirty="0">
              <a:highlight>
                <a:srgbClr val="C0C0C0"/>
              </a:highlight>
              <a:cs typeface="B Nazanin" panose="00000400000000000000" pitchFamily="2" charset="-78"/>
            </a:endParaRP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dirty="0">
                <a:highlight>
                  <a:srgbClr val="C0C0C0"/>
                </a:highlight>
                <a:cs typeface="B Nazanin" panose="00000400000000000000" pitchFamily="2" charset="-78"/>
              </a:rPr>
              <a:t>تعیین موقعیت تصادفی ماشین دشمن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dirty="0">
                <a:highlight>
                  <a:srgbClr val="C0C0C0"/>
                </a:highlight>
                <a:cs typeface="B Nazanin" panose="00000400000000000000" pitchFamily="2" charset="-78"/>
              </a:rPr>
              <a:t>شروع حرکت دشمن از بالای صفحه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AE8697-2393-B115-328A-E54E37D83C25}"/>
              </a:ext>
            </a:extLst>
          </p:cNvPr>
          <p:cNvSpPr txBox="1"/>
          <p:nvPr/>
        </p:nvSpPr>
        <p:spPr>
          <a:xfrm>
            <a:off x="5394960" y="616079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2400" b="1" dirty="0">
                <a:cs typeface="B Nazanin" panose="00000400000000000000" pitchFamily="2" charset="-78"/>
              </a:rPr>
              <a:t>کد </a:t>
            </a:r>
            <a:r>
              <a:rPr lang="en-US" sz="2400" b="1" dirty="0">
                <a:cs typeface="B Nazanin" panose="00000400000000000000" pitchFamily="2" charset="-78"/>
              </a:rPr>
              <a:t>Screen1.Initialize </a:t>
            </a:r>
            <a:r>
              <a:rPr lang="ar-SA" sz="2400" b="1" dirty="0">
                <a:cs typeface="B Nazanin" panose="00000400000000000000" pitchFamily="2" charset="-78"/>
              </a:rPr>
              <a:t>شروع برنامه</a:t>
            </a:r>
            <a:endParaRPr lang="fa-IR" sz="2400" b="1" dirty="0">
              <a:cs typeface="B Nazanin" panose="00000400000000000000" pitchFamily="2" charset="-78"/>
            </a:endParaRPr>
          </a:p>
          <a:p>
            <a:pPr algn="r" rtl="1"/>
            <a:endParaRPr lang="fa-IR" sz="2400" b="1" dirty="0">
              <a:cs typeface="B Nazanin" panose="00000400000000000000" pitchFamily="2" charset="-78"/>
            </a:endParaRPr>
          </a:p>
          <a:p>
            <a:pPr algn="r" rtl="1"/>
            <a:r>
              <a:rPr lang="ar-SA" sz="2400" dirty="0">
                <a:cs typeface="B Nazanin" panose="00000400000000000000" pitchFamily="2" charset="-78"/>
              </a:rPr>
              <a:t>این کد زمانی اجرا می‌شود که صفحه بازی باز می‌شود.</a:t>
            </a:r>
          </a:p>
          <a:p>
            <a:pPr algn="r" rtl="1"/>
            <a:r>
              <a:rPr lang="ar-SA" sz="2400" b="1" dirty="0">
                <a:cs typeface="B Nazanin" panose="00000400000000000000" pitchFamily="2" charset="-78"/>
              </a:rPr>
              <a:t>عملکردها: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400" dirty="0">
                <a:cs typeface="B Nazanin" panose="00000400000000000000" pitchFamily="2" charset="-78"/>
              </a:rPr>
              <a:t>مقداردهی اولیه متغیرها </a:t>
            </a:r>
            <a:r>
              <a:rPr lang="fa-IR" sz="2400" dirty="0">
                <a:cs typeface="B Nazanin" panose="00000400000000000000" pitchFamily="2" charset="-78"/>
              </a:rPr>
              <a:t>(</a:t>
            </a:r>
            <a:r>
              <a:rPr lang="en-US" sz="2400" dirty="0">
                <a:cs typeface="B Nazanin" panose="00000400000000000000" pitchFamily="2" charset="-78"/>
              </a:rPr>
              <a:t>Score، Speed، Level</a:t>
            </a:r>
            <a:r>
              <a:rPr lang="fa-IR" sz="2400" dirty="0">
                <a:cs typeface="B Nazanin" panose="00000400000000000000" pitchFamily="2" charset="-78"/>
              </a:rPr>
              <a:t>)</a:t>
            </a:r>
            <a:endParaRPr lang="en-US" sz="2400" dirty="0">
              <a:cs typeface="B Nazanin" panose="00000400000000000000" pitchFamily="2" charset="-78"/>
            </a:endParaRP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400" dirty="0">
                <a:cs typeface="B Nazanin" panose="00000400000000000000" pitchFamily="2" charset="-78"/>
              </a:rPr>
              <a:t>تنظیم موقعیت اولیه ماشین بازیکن در پایین صفحه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400" dirty="0">
                <a:cs typeface="B Nazanin" panose="00000400000000000000" pitchFamily="2" charset="-78"/>
              </a:rPr>
              <a:t>قرار دادن ماشین دشمن در بالای صفحه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400" dirty="0">
                <a:cs typeface="B Nazanin" panose="00000400000000000000" pitchFamily="2" charset="-78"/>
              </a:rPr>
              <a:t>پخش صدای شروع بازی </a:t>
            </a:r>
            <a:r>
              <a:rPr lang="en-US" sz="2400" dirty="0">
                <a:cs typeface="B Nazanin" panose="00000400000000000000" pitchFamily="2" charset="-78"/>
              </a:rPr>
              <a:t>GameStart.mp3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400" dirty="0">
                <a:cs typeface="B Nazanin" panose="00000400000000000000" pitchFamily="2" charset="-78"/>
              </a:rPr>
              <a:t>غیرفعال یا فعال‌سازی </a:t>
            </a:r>
            <a:r>
              <a:rPr lang="en-US" sz="2400" dirty="0">
                <a:cs typeface="B Nazanin" panose="00000400000000000000" pitchFamily="2" charset="-78"/>
              </a:rPr>
              <a:t>Clock1 </a:t>
            </a:r>
            <a:r>
              <a:rPr lang="fa-IR" sz="2400" dirty="0">
                <a:cs typeface="B Nazanin" panose="00000400000000000000" pitchFamily="2" charset="-78"/>
              </a:rPr>
              <a:t> </a:t>
            </a:r>
            <a:r>
              <a:rPr lang="ar-SA" sz="2400" dirty="0">
                <a:cs typeface="B Nazanin" panose="00000400000000000000" pitchFamily="2" charset="-78"/>
              </a:rPr>
              <a:t>طبق منطق بازی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400" dirty="0">
                <a:cs typeface="B Nazanin" panose="00000400000000000000" pitchFamily="2" charset="-78"/>
              </a:rPr>
              <a:t>نمایش پیام راهنما </a:t>
            </a:r>
            <a:r>
              <a:rPr lang="en-US" sz="2400" dirty="0">
                <a:cs typeface="B Nazanin" panose="00000400000000000000" pitchFamily="2" charset="-78"/>
              </a:rPr>
              <a:t>How to play</a:t>
            </a:r>
            <a:endParaRPr lang="fa-IR" sz="2400" dirty="0">
              <a:cs typeface="B Nazanin" panose="00000400000000000000" pitchFamily="2" charset="-78"/>
            </a:endParaRPr>
          </a:p>
          <a:p>
            <a:pPr algn="r" rtl="1"/>
            <a:endParaRPr lang="en-US" sz="2400" dirty="0">
              <a:cs typeface="B Nazanin" panose="00000400000000000000" pitchFamily="2" charset="-78"/>
            </a:endParaRPr>
          </a:p>
          <a:p>
            <a:pPr algn="r" rtl="1"/>
            <a:r>
              <a:rPr lang="ar-SA" sz="2400" b="1" dirty="0">
                <a:cs typeface="B Nazanin" panose="00000400000000000000" pitchFamily="2" charset="-78"/>
              </a:rPr>
              <a:t>نتیجه:</a:t>
            </a:r>
            <a:r>
              <a:rPr lang="ar-SA" sz="2400" dirty="0">
                <a:cs typeface="B Nazanin" panose="00000400000000000000" pitchFamily="2" charset="-78"/>
              </a:rPr>
              <a:t> بازی در وضعیت آماده برای شروع قرار می‌گیرد.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6FF3BC-74AE-F08F-5B67-C74E10AF4589}"/>
              </a:ext>
            </a:extLst>
          </p:cNvPr>
          <p:cNvSpPr txBox="1"/>
          <p:nvPr/>
        </p:nvSpPr>
        <p:spPr>
          <a:xfrm>
            <a:off x="233681" y="2553116"/>
            <a:ext cx="56997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2000" b="1" dirty="0">
                <a:cs typeface="B Nazanin" panose="00000400000000000000" pitchFamily="2" charset="-78"/>
              </a:rPr>
              <a:t>رویه تعیین موقعیت تصادفی دشمن </a:t>
            </a:r>
            <a:r>
              <a:rPr lang="en-US" sz="2000" b="1" dirty="0">
                <a:cs typeface="B Nazanin" panose="00000400000000000000" pitchFamily="2" charset="-78"/>
              </a:rPr>
              <a:t>Procedure </a:t>
            </a:r>
            <a:r>
              <a:rPr lang="en-US" sz="2000" b="1" dirty="0" err="1">
                <a:cs typeface="B Nazanin" panose="00000400000000000000" pitchFamily="2" charset="-78"/>
              </a:rPr>
              <a:t>LocationAuto</a:t>
            </a:r>
            <a:endParaRPr lang="en-US" sz="2000" b="1" dirty="0">
              <a:cs typeface="B Nazanin" panose="00000400000000000000" pitchFamily="2" charset="-78"/>
            </a:endParaRPr>
          </a:p>
          <a:p>
            <a:pPr algn="r" rtl="1"/>
            <a:r>
              <a:rPr lang="ar-SA" sz="2000" dirty="0">
                <a:cs typeface="B Nazanin" panose="00000400000000000000" pitchFamily="2" charset="-78"/>
              </a:rPr>
              <a:t>در این رویه: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dirty="0">
                <a:cs typeface="B Nazanin" panose="00000400000000000000" pitchFamily="2" charset="-78"/>
              </a:rPr>
              <a:t>یک عدد تصادفی برای موقعیت افقی دشمن تولید می‌شود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dirty="0">
                <a:cs typeface="B Nazanin" panose="00000400000000000000" pitchFamily="2" charset="-78"/>
              </a:rPr>
              <a:t>ماشین دشمن همیشه از بالای صفحه شروع به حرکت می‌کند</a:t>
            </a:r>
          </a:p>
          <a:p>
            <a:pPr algn="r" rtl="1"/>
            <a:r>
              <a:rPr lang="ar-SA" sz="2000" b="1" dirty="0">
                <a:cs typeface="B Nazanin" panose="00000400000000000000" pitchFamily="2" charset="-78"/>
              </a:rPr>
              <a:t>هدف:</a:t>
            </a:r>
            <a:br>
              <a:rPr lang="ar-SA" sz="2000" dirty="0">
                <a:cs typeface="B Nazanin" panose="00000400000000000000" pitchFamily="2" charset="-78"/>
              </a:rPr>
            </a:br>
            <a:r>
              <a:rPr lang="ar-SA" sz="2000" dirty="0">
                <a:cs typeface="B Nazanin" panose="00000400000000000000" pitchFamily="2" charset="-78"/>
              </a:rPr>
              <a:t>غیرقابل پیش‌بینی شدن مسیر دشمن و افزایش هیجان بازی</a:t>
            </a:r>
          </a:p>
        </p:txBody>
      </p:sp>
      <p:cxnSp>
        <p:nvCxnSpPr>
          <p:cNvPr id="6" name="Google Shape;186;p32">
            <a:extLst>
              <a:ext uri="{FF2B5EF4-FFF2-40B4-BE49-F238E27FC236}">
                <a16:creationId xmlns:a16="http://schemas.microsoft.com/office/drawing/2014/main" id="{5FE5F559-111C-1270-1E93-DC523BF9D9DC}"/>
              </a:ext>
            </a:extLst>
          </p:cNvPr>
          <p:cNvCxnSpPr>
            <a:cxnSpLocks/>
          </p:cNvCxnSpPr>
          <p:nvPr/>
        </p:nvCxnSpPr>
        <p:spPr>
          <a:xfrm flipV="1">
            <a:off x="6258560" y="416560"/>
            <a:ext cx="0" cy="498856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B9A9E14A-1547-72DF-659F-A4A7B69238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77425">
            <a:off x="4840602" y="1135159"/>
            <a:ext cx="1219370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830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8029303"/>
      </p:ext>
    </p:extLst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6548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6EF1D9-3179-450A-15E8-EEDFA04678A6}"/>
              </a:ext>
            </a:extLst>
          </p:cNvPr>
          <p:cNvSpPr txBox="1"/>
          <p:nvPr/>
        </p:nvSpPr>
        <p:spPr>
          <a:xfrm>
            <a:off x="5781040" y="536416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2000" b="1" dirty="0">
                <a:cs typeface="B Nazanin" panose="00000400000000000000" pitchFamily="2" charset="-78"/>
              </a:rPr>
              <a:t>حرکت ماشین دشمن </a:t>
            </a:r>
            <a:r>
              <a:rPr lang="en-US" sz="2000" b="1" dirty="0" err="1">
                <a:cs typeface="B Nazanin" panose="00000400000000000000" pitchFamily="2" charset="-78"/>
              </a:rPr>
              <a:t>Clock.Timer</a:t>
            </a:r>
            <a:endParaRPr lang="en-US" sz="2000" b="1" dirty="0">
              <a:cs typeface="B Nazanin" panose="00000400000000000000" pitchFamily="2" charset="-78"/>
            </a:endParaRPr>
          </a:p>
          <a:p>
            <a:pPr algn="r" rtl="1"/>
            <a:r>
              <a:rPr lang="ar-SA" sz="2000" dirty="0">
                <a:cs typeface="B Nazanin" panose="00000400000000000000" pitchFamily="2" charset="-78"/>
              </a:rPr>
              <a:t>در هر بار اجرای تایمر: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dirty="0">
                <a:cs typeface="B Nazanin" panose="00000400000000000000" pitchFamily="2" charset="-78"/>
              </a:rPr>
              <a:t>ماشین دشمن به سمت پایین حرکت می‌کند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dirty="0">
                <a:cs typeface="B Nazanin" panose="00000400000000000000" pitchFamily="2" charset="-78"/>
              </a:rPr>
              <a:t>امتیاز </a:t>
            </a:r>
            <a:r>
              <a:rPr lang="en-US" sz="2000" dirty="0">
                <a:cs typeface="B Nazanin" panose="00000400000000000000" pitchFamily="2" charset="-78"/>
              </a:rPr>
              <a:t>Score </a:t>
            </a:r>
            <a:r>
              <a:rPr lang="fa-IR" sz="2000" dirty="0">
                <a:cs typeface="B Nazanin" panose="00000400000000000000" pitchFamily="2" charset="-78"/>
              </a:rPr>
              <a:t> </a:t>
            </a:r>
            <a:r>
              <a:rPr lang="ar-SA" sz="2000" dirty="0">
                <a:cs typeface="B Nazanin" panose="00000400000000000000" pitchFamily="2" charset="-78"/>
              </a:rPr>
              <a:t>افزایش می‌یابد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dirty="0">
                <a:cs typeface="B Nazanin" panose="00000400000000000000" pitchFamily="2" charset="-78"/>
              </a:rPr>
              <a:t>مقدار امتیاز روی لیبل نمایش داده می‌شود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3407EE-1CE2-965A-7E85-B0FFA7FA6182}"/>
              </a:ext>
            </a:extLst>
          </p:cNvPr>
          <p:cNvSpPr txBox="1"/>
          <p:nvPr/>
        </p:nvSpPr>
        <p:spPr>
          <a:xfrm>
            <a:off x="5781040" y="2283936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2000" b="1" dirty="0">
                <a:cs typeface="B Nazanin" panose="00000400000000000000" pitchFamily="2" charset="-78"/>
              </a:rPr>
              <a:t>رسیدن دشمن به انتهای صفحه </a:t>
            </a:r>
            <a:r>
              <a:rPr lang="fa-IR" sz="2000" b="1" dirty="0">
                <a:cs typeface="B Nazanin" panose="00000400000000000000" pitchFamily="2" charset="-78"/>
              </a:rPr>
              <a:t>  </a:t>
            </a:r>
            <a:r>
              <a:rPr lang="en-US" sz="2000" b="1" dirty="0" err="1">
                <a:cs typeface="B Nazanin" panose="00000400000000000000" pitchFamily="2" charset="-78"/>
              </a:rPr>
              <a:t>Enemy.EdgeReached</a:t>
            </a:r>
            <a:endParaRPr lang="en-US" sz="2000" b="1" dirty="0">
              <a:cs typeface="B Nazanin" panose="00000400000000000000" pitchFamily="2" charset="-78"/>
            </a:endParaRPr>
          </a:p>
          <a:p>
            <a:pPr algn="r" rtl="1"/>
            <a:r>
              <a:rPr lang="ar-SA" sz="2000" dirty="0">
                <a:cs typeface="B Nazanin" panose="00000400000000000000" pitchFamily="2" charset="-78"/>
              </a:rPr>
              <a:t>وقتی ماشین دشمن به پایین صفحه برسد: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dirty="0">
                <a:cs typeface="B Nazanin" panose="00000400000000000000" pitchFamily="2" charset="-78"/>
              </a:rPr>
              <a:t>دوباره در جای تصادفی ظاهر می‌شود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dirty="0">
                <a:cs typeface="B Nazanin" panose="00000400000000000000" pitchFamily="2" charset="-78"/>
              </a:rPr>
              <a:t>سرعت بازی افزایش می‌یابد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dirty="0">
                <a:cs typeface="B Nazanin" panose="00000400000000000000" pitchFamily="2" charset="-78"/>
              </a:rPr>
              <a:t>سطح بازی </a:t>
            </a:r>
            <a:r>
              <a:rPr lang="fa-IR" sz="2000" dirty="0">
                <a:cs typeface="B Nazanin" panose="00000400000000000000" pitchFamily="2" charset="-78"/>
              </a:rPr>
              <a:t> </a:t>
            </a:r>
            <a:r>
              <a:rPr lang="en-US" sz="2000" dirty="0">
                <a:cs typeface="B Nazanin" panose="00000400000000000000" pitchFamily="2" charset="-78"/>
              </a:rPr>
              <a:t>Level</a:t>
            </a:r>
            <a:r>
              <a:rPr lang="fa-IR" sz="2000" dirty="0">
                <a:cs typeface="B Nazanin" panose="00000400000000000000" pitchFamily="2" charset="-78"/>
              </a:rPr>
              <a:t> </a:t>
            </a:r>
            <a:r>
              <a:rPr lang="ar-SA" sz="2000" dirty="0">
                <a:cs typeface="B Nazanin" panose="00000400000000000000" pitchFamily="2" charset="-78"/>
              </a:rPr>
              <a:t>یک واحد زیاد می‌شود</a:t>
            </a:r>
            <a:r>
              <a:rPr lang="fa-IR" sz="2000" dirty="0">
                <a:cs typeface="B Nazanin" panose="00000400000000000000" pitchFamily="2" charset="-78"/>
              </a:rPr>
              <a:t>  </a:t>
            </a:r>
            <a:endParaRPr lang="ar-SA" sz="2000" dirty="0">
              <a:cs typeface="B Nazanin" panose="000004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5954FF-BC8C-5CC6-0113-5075ABC9B6DA}"/>
              </a:ext>
            </a:extLst>
          </p:cNvPr>
          <p:cNvSpPr txBox="1"/>
          <p:nvPr/>
        </p:nvSpPr>
        <p:spPr>
          <a:xfrm>
            <a:off x="5781040" y="4031456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2000" b="1" dirty="0">
                <a:cs typeface="B Nazanin" panose="00000400000000000000" pitchFamily="2" charset="-78"/>
              </a:rPr>
              <a:t>کنترل ماشین بازیکن</a:t>
            </a:r>
          </a:p>
          <a:p>
            <a:pPr algn="r" rtl="1"/>
            <a:r>
              <a:rPr lang="en-US" sz="2000" b="1" dirty="0" err="1">
                <a:cs typeface="B Nazanin" panose="00000400000000000000" pitchFamily="2" charset="-78"/>
              </a:rPr>
              <a:t>player.Dragged</a:t>
            </a:r>
            <a:endParaRPr lang="en-US" sz="2000" b="1" dirty="0">
              <a:cs typeface="B Nazanin" panose="00000400000000000000" pitchFamily="2" charset="-78"/>
            </a:endParaRP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dirty="0">
                <a:cs typeface="B Nazanin" panose="00000400000000000000" pitchFamily="2" charset="-78"/>
              </a:rPr>
              <a:t>بازیکن با کشیدن انگشت، ماشین را حرکت می‌دهد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dirty="0">
                <a:cs typeface="B Nazanin" panose="00000400000000000000" pitchFamily="2" charset="-78"/>
              </a:rPr>
              <a:t>حرکت فقط در جهت افقی (چپ و راست) انجام می‌شود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dirty="0">
                <a:cs typeface="B Nazanin" panose="00000400000000000000" pitchFamily="2" charset="-78"/>
              </a:rPr>
              <a:t>فقط زمانی فعال است که بازی در حال اجرا باشد</a:t>
            </a:r>
          </a:p>
        </p:txBody>
      </p:sp>
      <p:cxnSp>
        <p:nvCxnSpPr>
          <p:cNvPr id="8" name="Google Shape;186;p32">
            <a:extLst>
              <a:ext uri="{FF2B5EF4-FFF2-40B4-BE49-F238E27FC236}">
                <a16:creationId xmlns:a16="http://schemas.microsoft.com/office/drawing/2014/main" id="{5AB3550B-79FC-3C41-699C-385ACEAE50C2}"/>
              </a:ext>
            </a:extLst>
          </p:cNvPr>
          <p:cNvCxnSpPr/>
          <p:nvPr/>
        </p:nvCxnSpPr>
        <p:spPr>
          <a:xfrm>
            <a:off x="6092800" y="2179789"/>
            <a:ext cx="6099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Google Shape;186;p32">
            <a:extLst>
              <a:ext uri="{FF2B5EF4-FFF2-40B4-BE49-F238E27FC236}">
                <a16:creationId xmlns:a16="http://schemas.microsoft.com/office/drawing/2014/main" id="{ADD4995F-C191-CA9E-012F-0AF968581FC9}"/>
              </a:ext>
            </a:extLst>
          </p:cNvPr>
          <p:cNvCxnSpPr>
            <a:cxnSpLocks/>
          </p:cNvCxnSpPr>
          <p:nvPr/>
        </p:nvCxnSpPr>
        <p:spPr>
          <a:xfrm>
            <a:off x="8534400" y="3967949"/>
            <a:ext cx="3657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485C42F-5DBA-8921-333B-62AA82C52DFB}"/>
              </a:ext>
            </a:extLst>
          </p:cNvPr>
          <p:cNvSpPr txBox="1"/>
          <p:nvPr/>
        </p:nvSpPr>
        <p:spPr>
          <a:xfrm>
            <a:off x="-325120" y="2058799"/>
            <a:ext cx="610616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2000" b="1" dirty="0">
                <a:cs typeface="B Nazanin" panose="00000400000000000000" pitchFamily="2" charset="-78"/>
              </a:rPr>
              <a:t>رویداد </a:t>
            </a:r>
            <a:r>
              <a:rPr lang="en-US" sz="2000" b="1" dirty="0" err="1">
                <a:cs typeface="B Nazanin" panose="00000400000000000000" pitchFamily="2" charset="-78"/>
              </a:rPr>
              <a:t>Enemy.EdgeReached</a:t>
            </a:r>
            <a:endParaRPr lang="en-US" sz="2000" b="1" dirty="0">
              <a:cs typeface="B Nazanin" panose="00000400000000000000" pitchFamily="2" charset="-78"/>
            </a:endParaRPr>
          </a:p>
          <a:p>
            <a:pPr algn="r" rtl="1"/>
            <a:r>
              <a:rPr lang="ar-SA" sz="2000" dirty="0">
                <a:cs typeface="B Nazanin" panose="00000400000000000000" pitchFamily="2" charset="-78"/>
              </a:rPr>
              <a:t>زمانی اجرا می‌شود که ماشین دشمن به انتهای </a:t>
            </a:r>
            <a:r>
              <a:rPr lang="en-US" sz="2000" dirty="0">
                <a:cs typeface="B Nazanin" panose="00000400000000000000" pitchFamily="2" charset="-78"/>
              </a:rPr>
              <a:t>Canvas </a:t>
            </a:r>
            <a:r>
              <a:rPr lang="ar-SA" sz="2000" dirty="0">
                <a:cs typeface="B Nazanin" panose="00000400000000000000" pitchFamily="2" charset="-78"/>
              </a:rPr>
              <a:t>برسد.</a:t>
            </a:r>
          </a:p>
          <a:p>
            <a:pPr algn="r" rtl="1"/>
            <a:r>
              <a:rPr lang="ar-SA" sz="2000" b="1" dirty="0">
                <a:cs typeface="B Nazanin" panose="00000400000000000000" pitchFamily="2" charset="-78"/>
              </a:rPr>
              <a:t>عملکردها: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dirty="0">
                <a:cs typeface="B Nazanin" panose="00000400000000000000" pitchFamily="2" charset="-78"/>
              </a:rPr>
              <a:t>بازگرداندن دشمن به بالای صفحه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dirty="0">
                <a:cs typeface="B Nazanin" panose="00000400000000000000" pitchFamily="2" charset="-78"/>
              </a:rPr>
              <a:t>تغییر موقعیت افقی به‌صورت تصادفی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dirty="0">
                <a:cs typeface="B Nazanin" panose="00000400000000000000" pitchFamily="2" charset="-78"/>
              </a:rPr>
              <a:t>افزایش </a:t>
            </a:r>
            <a:r>
              <a:rPr lang="en-US" sz="2000" dirty="0">
                <a:cs typeface="B Nazanin" panose="00000400000000000000" pitchFamily="2" charset="-78"/>
              </a:rPr>
              <a:t>Speed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dirty="0">
                <a:cs typeface="B Nazanin" panose="00000400000000000000" pitchFamily="2" charset="-78"/>
              </a:rPr>
              <a:t>افزایش </a:t>
            </a:r>
            <a:r>
              <a:rPr lang="en-US" sz="2000" dirty="0">
                <a:cs typeface="B Nazanin" panose="00000400000000000000" pitchFamily="2" charset="-78"/>
              </a:rPr>
              <a:t>Level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dirty="0">
                <a:cs typeface="B Nazanin" panose="00000400000000000000" pitchFamily="2" charset="-78"/>
              </a:rPr>
              <a:t>نمایش </a:t>
            </a:r>
            <a:r>
              <a:rPr lang="en-US" sz="2000" dirty="0">
                <a:cs typeface="B Nazanin" panose="00000400000000000000" pitchFamily="2" charset="-78"/>
              </a:rPr>
              <a:t>Level </a:t>
            </a:r>
            <a:r>
              <a:rPr lang="ar-SA" sz="2000" dirty="0">
                <a:cs typeface="B Nazanin" panose="00000400000000000000" pitchFamily="2" charset="-78"/>
              </a:rPr>
              <a:t>جدید</a:t>
            </a:r>
          </a:p>
          <a:p>
            <a:pPr algn="r" rtl="1"/>
            <a:r>
              <a:rPr lang="ar-SA" sz="2000" b="1" dirty="0">
                <a:cs typeface="B Nazanin" panose="00000400000000000000" pitchFamily="2" charset="-78"/>
              </a:rPr>
              <a:t>نتیجه:</a:t>
            </a:r>
            <a:br>
              <a:rPr lang="ar-SA" sz="2000" dirty="0">
                <a:cs typeface="B Nazanin" panose="00000400000000000000" pitchFamily="2" charset="-78"/>
              </a:rPr>
            </a:br>
            <a:r>
              <a:rPr lang="ar-SA" sz="2000" dirty="0">
                <a:cs typeface="B Nazanin" panose="00000400000000000000" pitchFamily="2" charset="-78"/>
              </a:rPr>
              <a:t>با هر عبور موفق دشمن، بازی سخت‌تر می‌شود.</a:t>
            </a:r>
          </a:p>
        </p:txBody>
      </p:sp>
      <p:cxnSp>
        <p:nvCxnSpPr>
          <p:cNvPr id="15" name="Google Shape;186;p32">
            <a:extLst>
              <a:ext uri="{FF2B5EF4-FFF2-40B4-BE49-F238E27FC236}">
                <a16:creationId xmlns:a16="http://schemas.microsoft.com/office/drawing/2014/main" id="{D4527750-1279-EC12-84E6-3F9542DB27EE}"/>
              </a:ext>
            </a:extLst>
          </p:cNvPr>
          <p:cNvCxnSpPr>
            <a:cxnSpLocks/>
          </p:cNvCxnSpPr>
          <p:nvPr/>
        </p:nvCxnSpPr>
        <p:spPr>
          <a:xfrm flipV="1">
            <a:off x="6092800" y="81280"/>
            <a:ext cx="0" cy="564489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049827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3" name="Google Shape;223;p35"/>
          <p:cNvCxnSpPr>
            <a:cxnSpLocks/>
          </p:cNvCxnSpPr>
          <p:nvPr/>
        </p:nvCxnSpPr>
        <p:spPr>
          <a:xfrm>
            <a:off x="7498080" y="3429000"/>
            <a:ext cx="460248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034C51F-5083-0736-3270-A30241768145}"/>
              </a:ext>
            </a:extLst>
          </p:cNvPr>
          <p:cNvSpPr txBox="1"/>
          <p:nvPr/>
        </p:nvSpPr>
        <p:spPr>
          <a:xfrm>
            <a:off x="5879518" y="1256549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2000" b="1" dirty="0">
                <a:cs typeface="B Nazanin" panose="00000400000000000000" pitchFamily="2" charset="-78"/>
              </a:rPr>
              <a:t>برخورد ماشین‌ها </a:t>
            </a:r>
            <a:r>
              <a:rPr lang="en-US" sz="2000" b="1" dirty="0" err="1">
                <a:cs typeface="B Nazanin" panose="00000400000000000000" pitchFamily="2" charset="-78"/>
              </a:rPr>
              <a:t>Enemy.CollidedWith</a:t>
            </a:r>
            <a:endParaRPr lang="en-US" sz="2000" b="1" dirty="0">
              <a:cs typeface="B Nazanin" panose="00000400000000000000" pitchFamily="2" charset="-78"/>
            </a:endParaRPr>
          </a:p>
          <a:p>
            <a:pPr algn="r" rtl="1"/>
            <a:r>
              <a:rPr lang="ar-SA" sz="2000" dirty="0">
                <a:cs typeface="B Nazanin" panose="00000400000000000000" pitchFamily="2" charset="-78"/>
              </a:rPr>
              <a:t>در صورت برخورد دشمن با بازیکن: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dirty="0">
                <a:cs typeface="B Nazanin" panose="00000400000000000000" pitchFamily="2" charset="-78"/>
              </a:rPr>
              <a:t>تایمر متوقف می‌شود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dirty="0">
                <a:cs typeface="B Nazanin" panose="00000400000000000000" pitchFamily="2" charset="-78"/>
              </a:rPr>
              <a:t>صدای پایان بازی پخش می‌شود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dirty="0">
                <a:cs typeface="B Nazanin" panose="00000400000000000000" pitchFamily="2" charset="-78"/>
              </a:rPr>
              <a:t>پیام </a:t>
            </a:r>
            <a:r>
              <a:rPr lang="en-US" sz="2000" dirty="0">
                <a:cs typeface="B Nazanin" panose="00000400000000000000" pitchFamily="2" charset="-78"/>
              </a:rPr>
              <a:t>Game Over </a:t>
            </a:r>
            <a:r>
              <a:rPr lang="fa-IR" sz="2000" dirty="0">
                <a:cs typeface="B Nazanin" panose="00000400000000000000" pitchFamily="2" charset="-78"/>
              </a:rPr>
              <a:t>ن</a:t>
            </a:r>
            <a:r>
              <a:rPr lang="ar-SA" sz="2000" dirty="0">
                <a:cs typeface="B Nazanin" panose="00000400000000000000" pitchFamily="2" charset="-78"/>
              </a:rPr>
              <a:t>مایش داده می‌شود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dirty="0">
                <a:cs typeface="B Nazanin" panose="00000400000000000000" pitchFamily="2" charset="-78"/>
              </a:rPr>
              <a:t>امتیاز و سطح نهایی نشان داده می‌شود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E93549-D953-AB50-C494-F1B2B165FEE6}"/>
              </a:ext>
            </a:extLst>
          </p:cNvPr>
          <p:cNvSpPr txBox="1"/>
          <p:nvPr/>
        </p:nvSpPr>
        <p:spPr>
          <a:xfrm>
            <a:off x="5879518" y="3690393"/>
            <a:ext cx="61010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2000" b="1" dirty="0">
                <a:cs typeface="B Nazanin" panose="00000400000000000000" pitchFamily="2" charset="-78"/>
              </a:rPr>
              <a:t>صفحه </a:t>
            </a:r>
            <a:r>
              <a:rPr lang="en-US" sz="2000" b="1" dirty="0">
                <a:cs typeface="B Nazanin" panose="00000400000000000000" pitchFamily="2" charset="-78"/>
              </a:rPr>
              <a:t>Info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dirty="0">
                <a:cs typeface="B Nazanin" panose="00000400000000000000" pitchFamily="2" charset="-78"/>
              </a:rPr>
              <a:t>نمایش اطلاعات سازنده برنامه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dirty="0">
                <a:cs typeface="B Nazanin" panose="00000400000000000000" pitchFamily="2" charset="-78"/>
              </a:rPr>
              <a:t>راه‌های ارتباطی (تلگرام، واتساپ، ایمیل، اینستاگرام)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dirty="0">
                <a:cs typeface="B Nazanin" panose="00000400000000000000" pitchFamily="2" charset="-78"/>
              </a:rPr>
              <a:t>دکمه </a:t>
            </a:r>
            <a:r>
              <a:rPr lang="en-US" sz="2000" dirty="0">
                <a:cs typeface="B Nazanin" panose="00000400000000000000" pitchFamily="2" charset="-78"/>
              </a:rPr>
              <a:t>Back </a:t>
            </a:r>
            <a:r>
              <a:rPr lang="ar-SA" sz="2000" dirty="0">
                <a:cs typeface="B Nazanin" panose="00000400000000000000" pitchFamily="2" charset="-78"/>
              </a:rPr>
              <a:t>برای بازگشت به صفحه اصلی</a:t>
            </a:r>
          </a:p>
        </p:txBody>
      </p:sp>
      <p:cxnSp>
        <p:nvCxnSpPr>
          <p:cNvPr id="17" name="Google Shape;223;p35">
            <a:extLst>
              <a:ext uri="{FF2B5EF4-FFF2-40B4-BE49-F238E27FC236}">
                <a16:creationId xmlns:a16="http://schemas.microsoft.com/office/drawing/2014/main" id="{95F9AC93-6CEE-8F50-E5DC-A78D4C4B50F9}"/>
              </a:ext>
            </a:extLst>
          </p:cNvPr>
          <p:cNvCxnSpPr>
            <a:cxnSpLocks/>
          </p:cNvCxnSpPr>
          <p:nvPr/>
        </p:nvCxnSpPr>
        <p:spPr>
          <a:xfrm>
            <a:off x="7498080" y="325120"/>
            <a:ext cx="0" cy="636488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3B59109-E516-ABA1-953A-6054BD71FC87}"/>
              </a:ext>
            </a:extLst>
          </p:cNvPr>
          <p:cNvSpPr txBox="1"/>
          <p:nvPr/>
        </p:nvSpPr>
        <p:spPr>
          <a:xfrm>
            <a:off x="1442721" y="2338585"/>
            <a:ext cx="610108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2000" b="1" dirty="0">
                <a:cs typeface="B Nazanin" panose="00000400000000000000" pitchFamily="2" charset="-78"/>
              </a:rPr>
              <a:t>برخورد دشمن با بازیکن (</a:t>
            </a:r>
            <a:r>
              <a:rPr lang="en-US" sz="2000" b="1" dirty="0" err="1">
                <a:cs typeface="B Nazanin" panose="00000400000000000000" pitchFamily="2" charset="-78"/>
              </a:rPr>
              <a:t>Enemy.CollidedWith</a:t>
            </a:r>
            <a:r>
              <a:rPr lang="en-US" sz="2000" b="1" dirty="0">
                <a:cs typeface="B Nazanin" panose="00000400000000000000" pitchFamily="2" charset="-78"/>
              </a:rPr>
              <a:t>)</a:t>
            </a:r>
          </a:p>
          <a:p>
            <a:pPr algn="r" rtl="1"/>
            <a:r>
              <a:rPr lang="ar-SA" sz="2000" dirty="0">
                <a:cs typeface="B Nazanin" panose="00000400000000000000" pitchFamily="2" charset="-78"/>
              </a:rPr>
              <a:t>این کد زمانی اجرا می‌شود که ماشین دشمن به ماشین بازیکن برخورد کند.</a:t>
            </a:r>
          </a:p>
          <a:p>
            <a:pPr algn="r" rtl="1"/>
            <a:r>
              <a:rPr lang="ar-SA" sz="2000" b="1" dirty="0">
                <a:cs typeface="B Nazanin" panose="00000400000000000000" pitchFamily="2" charset="-78"/>
              </a:rPr>
              <a:t>اتفاقات: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dirty="0">
                <a:cs typeface="B Nazanin" panose="00000400000000000000" pitchFamily="2" charset="-78"/>
              </a:rPr>
              <a:t>توقف </a:t>
            </a:r>
            <a:r>
              <a:rPr lang="en-US" sz="2000" dirty="0">
                <a:cs typeface="B Nazanin" panose="00000400000000000000" pitchFamily="2" charset="-78"/>
              </a:rPr>
              <a:t>Clock1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dirty="0">
                <a:cs typeface="B Nazanin" panose="00000400000000000000" pitchFamily="2" charset="-78"/>
              </a:rPr>
              <a:t>پخش صدای </a:t>
            </a:r>
            <a:r>
              <a:rPr lang="en-US" sz="2000" dirty="0">
                <a:cs typeface="B Nazanin" panose="00000400000000000000" pitchFamily="2" charset="-78"/>
              </a:rPr>
              <a:t>GameOver.mp3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dirty="0">
                <a:cs typeface="B Nazanin" panose="00000400000000000000" pitchFamily="2" charset="-78"/>
              </a:rPr>
              <a:t>نمایش پیام </a:t>
            </a:r>
            <a:r>
              <a:rPr lang="en-US" sz="2000" dirty="0">
                <a:cs typeface="B Nazanin" panose="00000400000000000000" pitchFamily="2" charset="-78"/>
              </a:rPr>
              <a:t>Game Over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dirty="0">
                <a:cs typeface="B Nazanin" panose="00000400000000000000" pitchFamily="2" charset="-78"/>
              </a:rPr>
              <a:t>نمایش امتیاز نهایی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000" dirty="0">
                <a:cs typeface="B Nazanin" panose="00000400000000000000" pitchFamily="2" charset="-78"/>
              </a:rPr>
              <a:t>غیرفعال شدن کنترل بازیکن</a:t>
            </a:r>
          </a:p>
          <a:p>
            <a:pPr algn="r" rtl="1"/>
            <a:r>
              <a:rPr lang="ar-SA" sz="2000" b="1" dirty="0">
                <a:cs typeface="B Nazanin" panose="00000400000000000000" pitchFamily="2" charset="-78"/>
              </a:rPr>
              <a:t>نتیجه:</a:t>
            </a:r>
            <a:br>
              <a:rPr lang="ar-SA" sz="2000" dirty="0">
                <a:cs typeface="B Nazanin" panose="00000400000000000000" pitchFamily="2" charset="-78"/>
              </a:rPr>
            </a:br>
            <a:r>
              <a:rPr lang="ar-SA" sz="2000" dirty="0">
                <a:cs typeface="B Nazanin" panose="00000400000000000000" pitchFamily="2" charset="-78"/>
              </a:rPr>
              <a:t>بازی به پایان می‌رسد و بازیکن نتیجه عملکرد خود را می‌بیند.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D3CBF4-FF81-174B-211B-35EC05E46768}"/>
              </a:ext>
            </a:extLst>
          </p:cNvPr>
          <p:cNvSpPr txBox="1"/>
          <p:nvPr/>
        </p:nvSpPr>
        <p:spPr>
          <a:xfrm>
            <a:off x="7806486" y="1947367"/>
            <a:ext cx="38846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2400" b="1" dirty="0">
                <a:cs typeface="B Nazanin" panose="00000400000000000000" pitchFamily="2" charset="-78"/>
              </a:rPr>
              <a:t>دکمه </a:t>
            </a:r>
            <a:r>
              <a:rPr lang="en-US" sz="2400" b="1" dirty="0">
                <a:cs typeface="B Nazanin" panose="00000400000000000000" pitchFamily="2" charset="-78"/>
              </a:rPr>
              <a:t>Reset </a:t>
            </a:r>
            <a:r>
              <a:rPr lang="fa-IR" sz="2400" b="1" dirty="0">
                <a:cs typeface="B Nazanin" panose="00000400000000000000" pitchFamily="2" charset="-78"/>
              </a:rPr>
              <a:t> </a:t>
            </a:r>
            <a:r>
              <a:rPr lang="ar-SA" sz="2400" b="1" dirty="0">
                <a:cs typeface="B Nazanin" panose="00000400000000000000" pitchFamily="2" charset="-78"/>
              </a:rPr>
              <a:t>شروع دوباره</a:t>
            </a:r>
          </a:p>
          <a:p>
            <a:pPr algn="r" rtl="1"/>
            <a:r>
              <a:rPr lang="ar-SA" sz="2400" dirty="0">
                <a:cs typeface="B Nazanin" panose="00000400000000000000" pitchFamily="2" charset="-78"/>
              </a:rPr>
              <a:t>با فشردن دکمه </a:t>
            </a:r>
            <a:r>
              <a:rPr lang="en-US" sz="2400" dirty="0">
                <a:cs typeface="B Nazanin" panose="00000400000000000000" pitchFamily="2" charset="-78"/>
              </a:rPr>
              <a:t>Reset</a:t>
            </a:r>
            <a:r>
              <a:rPr lang="fa-IR" sz="2400" dirty="0">
                <a:cs typeface="B Nazanin" panose="00000400000000000000" pitchFamily="2" charset="-78"/>
              </a:rPr>
              <a:t> :</a:t>
            </a:r>
            <a:endParaRPr lang="en-US" sz="2400" dirty="0">
              <a:cs typeface="B Nazanin" panose="00000400000000000000" pitchFamily="2" charset="-78"/>
            </a:endParaRP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sz="2400" dirty="0">
                <a:cs typeface="B Nazanin" panose="00000400000000000000" pitchFamily="2" charset="-78"/>
              </a:rPr>
              <a:t> </a:t>
            </a:r>
            <a:r>
              <a:rPr lang="en-US" sz="2400" dirty="0">
                <a:cs typeface="B Nazanin" panose="00000400000000000000" pitchFamily="2" charset="-78"/>
              </a:rPr>
              <a:t>Score </a:t>
            </a:r>
            <a:r>
              <a:rPr lang="fa-IR" sz="2400" dirty="0">
                <a:cs typeface="B Nazanin" panose="00000400000000000000" pitchFamily="2" charset="-78"/>
              </a:rPr>
              <a:t> </a:t>
            </a:r>
            <a:r>
              <a:rPr lang="ar-SA" sz="2400" dirty="0">
                <a:cs typeface="B Nazanin" panose="00000400000000000000" pitchFamily="2" charset="-78"/>
              </a:rPr>
              <a:t>صفر می‌شود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sz="2400" dirty="0">
                <a:cs typeface="B Nazanin" panose="00000400000000000000" pitchFamily="2" charset="-78"/>
              </a:rPr>
              <a:t>Speed </a:t>
            </a:r>
            <a:r>
              <a:rPr lang="fa-IR" sz="2400" dirty="0">
                <a:cs typeface="B Nazanin" panose="00000400000000000000" pitchFamily="2" charset="-78"/>
              </a:rPr>
              <a:t> </a:t>
            </a:r>
            <a:r>
              <a:rPr lang="ar-SA" sz="2400" dirty="0">
                <a:cs typeface="B Nazanin" panose="00000400000000000000" pitchFamily="2" charset="-78"/>
              </a:rPr>
              <a:t>به مقدار اولیه برمی‌گردد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sz="2400" dirty="0">
                <a:cs typeface="B Nazanin" panose="00000400000000000000" pitchFamily="2" charset="-78"/>
              </a:rPr>
              <a:t>Level </a:t>
            </a:r>
            <a:r>
              <a:rPr lang="fa-IR" sz="2400" dirty="0">
                <a:cs typeface="B Nazanin" panose="00000400000000000000" pitchFamily="2" charset="-78"/>
              </a:rPr>
              <a:t> </a:t>
            </a:r>
            <a:r>
              <a:rPr lang="ar-SA" sz="2400" dirty="0">
                <a:cs typeface="B Nazanin" panose="00000400000000000000" pitchFamily="2" charset="-78"/>
              </a:rPr>
              <a:t>صفر می‌شود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2400" dirty="0">
                <a:cs typeface="B Nazanin" panose="00000400000000000000" pitchFamily="2" charset="-78"/>
              </a:rPr>
              <a:t>موقعیت ماشین‌ها ریست می‌شود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sz="2400" dirty="0">
                <a:cs typeface="B Nazanin" panose="00000400000000000000" pitchFamily="2" charset="-78"/>
              </a:rPr>
              <a:t>Clock1 </a:t>
            </a:r>
            <a:r>
              <a:rPr lang="fa-IR" sz="2400" dirty="0">
                <a:cs typeface="B Nazanin" panose="00000400000000000000" pitchFamily="2" charset="-78"/>
              </a:rPr>
              <a:t> </a:t>
            </a:r>
            <a:r>
              <a:rPr lang="ar-SA" sz="2400" dirty="0">
                <a:cs typeface="B Nazanin" panose="00000400000000000000" pitchFamily="2" charset="-78"/>
              </a:rPr>
              <a:t>دوباره فعال می‌شود</a:t>
            </a:r>
          </a:p>
          <a:p>
            <a:pPr algn="r" rtl="1"/>
            <a:r>
              <a:rPr lang="ar-SA" sz="2400" b="1" dirty="0">
                <a:cs typeface="B Nazanin" panose="00000400000000000000" pitchFamily="2" charset="-78"/>
              </a:rPr>
              <a:t>هدف:</a:t>
            </a:r>
            <a:br>
              <a:rPr lang="ar-SA" sz="2400" dirty="0">
                <a:cs typeface="B Nazanin" panose="00000400000000000000" pitchFamily="2" charset="-78"/>
              </a:rPr>
            </a:br>
            <a:r>
              <a:rPr lang="ar-SA" sz="2400" dirty="0">
                <a:cs typeface="B Nazanin" panose="00000400000000000000" pitchFamily="2" charset="-78"/>
              </a:rPr>
              <a:t>امکان شروع سریع یک دور جدید بازی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C7BB9A-E3FD-700D-4D01-1A579F6B19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9067" y="1565059"/>
            <a:ext cx="4666933" cy="4180935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0"/>
          <p:cNvSpPr txBox="1">
            <a:spLocks noGrp="1"/>
          </p:cNvSpPr>
          <p:nvPr>
            <p:ph type="ctrTitle" idx="4294967295"/>
          </p:nvPr>
        </p:nvSpPr>
        <p:spPr>
          <a:xfrm>
            <a:off x="2619801" y="470467"/>
            <a:ext cx="6952400" cy="126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fa-IR" sz="4267" dirty="0">
                <a:cs typeface="B Titr" panose="00000700000000000000" pitchFamily="2" charset="-78"/>
              </a:rPr>
              <a:t>برنامه</a:t>
            </a:r>
            <a:endParaRPr sz="4267" dirty="0">
              <a:cs typeface="B Titr" panose="00000700000000000000" pitchFamily="2" charset="-78"/>
            </a:endParaRPr>
          </a:p>
        </p:txBody>
      </p:sp>
      <p:grpSp>
        <p:nvGrpSpPr>
          <p:cNvPr id="566" name="Google Shape;566;p50"/>
          <p:cNvGrpSpPr/>
          <p:nvPr/>
        </p:nvGrpSpPr>
        <p:grpSpPr>
          <a:xfrm>
            <a:off x="4148190" y="1625639"/>
            <a:ext cx="4482701" cy="3522491"/>
            <a:chOff x="238125" y="1676700"/>
            <a:chExt cx="2045650" cy="1779275"/>
          </a:xfrm>
        </p:grpSpPr>
        <p:sp>
          <p:nvSpPr>
            <p:cNvPr id="567" name="Google Shape;567;p50"/>
            <p:cNvSpPr/>
            <p:nvPr/>
          </p:nvSpPr>
          <p:spPr>
            <a:xfrm>
              <a:off x="1006875" y="3190025"/>
              <a:ext cx="508150" cy="247100"/>
            </a:xfrm>
            <a:custGeom>
              <a:avLst/>
              <a:gdLst/>
              <a:ahLst/>
              <a:cxnLst/>
              <a:rect l="l" t="t" r="r" b="b"/>
              <a:pathLst>
                <a:path w="20326" h="9884" extrusionOk="0">
                  <a:moveTo>
                    <a:pt x="2967" y="0"/>
                  </a:moveTo>
                  <a:lnTo>
                    <a:pt x="0" y="9884"/>
                  </a:lnTo>
                  <a:lnTo>
                    <a:pt x="20325" y="9884"/>
                  </a:lnTo>
                  <a:lnTo>
                    <a:pt x="173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68" name="Google Shape;568;p50"/>
            <p:cNvSpPr/>
            <p:nvPr/>
          </p:nvSpPr>
          <p:spPr>
            <a:xfrm>
              <a:off x="1021625" y="3190025"/>
              <a:ext cx="452425" cy="197525"/>
            </a:xfrm>
            <a:custGeom>
              <a:avLst/>
              <a:gdLst/>
              <a:ahLst/>
              <a:cxnLst/>
              <a:rect l="l" t="t" r="r" b="b"/>
              <a:pathLst>
                <a:path w="18097" h="7901" extrusionOk="0">
                  <a:moveTo>
                    <a:pt x="2377" y="0"/>
                  </a:moveTo>
                  <a:lnTo>
                    <a:pt x="0" y="7901"/>
                  </a:lnTo>
                  <a:cubicBezTo>
                    <a:pt x="6032" y="6753"/>
                    <a:pt x="12064" y="5557"/>
                    <a:pt x="18096" y="4442"/>
                  </a:cubicBezTo>
                  <a:lnTo>
                    <a:pt x="167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69" name="Google Shape;569;p50"/>
            <p:cNvSpPr/>
            <p:nvPr/>
          </p:nvSpPr>
          <p:spPr>
            <a:xfrm>
              <a:off x="968750" y="3417450"/>
              <a:ext cx="584375" cy="38525"/>
            </a:xfrm>
            <a:custGeom>
              <a:avLst/>
              <a:gdLst/>
              <a:ahLst/>
              <a:cxnLst/>
              <a:rect l="l" t="t" r="r" b="b"/>
              <a:pathLst>
                <a:path w="23375" h="1541" extrusionOk="0">
                  <a:moveTo>
                    <a:pt x="492" y="0"/>
                  </a:moveTo>
                  <a:cubicBezTo>
                    <a:pt x="214" y="0"/>
                    <a:pt x="1" y="230"/>
                    <a:pt x="1" y="492"/>
                  </a:cubicBezTo>
                  <a:lnTo>
                    <a:pt x="1" y="1541"/>
                  </a:lnTo>
                  <a:lnTo>
                    <a:pt x="23375" y="1541"/>
                  </a:lnTo>
                  <a:lnTo>
                    <a:pt x="23375" y="492"/>
                  </a:lnTo>
                  <a:cubicBezTo>
                    <a:pt x="23375" y="213"/>
                    <a:pt x="23145" y="0"/>
                    <a:pt x="22883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70" name="Google Shape;570;p50"/>
            <p:cNvSpPr/>
            <p:nvPr/>
          </p:nvSpPr>
          <p:spPr>
            <a:xfrm>
              <a:off x="238125" y="1777900"/>
              <a:ext cx="2045650" cy="1461300"/>
            </a:xfrm>
            <a:custGeom>
              <a:avLst/>
              <a:gdLst/>
              <a:ahLst/>
              <a:cxnLst/>
              <a:rect l="l" t="t" r="r" b="b"/>
              <a:pathLst>
                <a:path w="81826" h="58452" extrusionOk="0">
                  <a:moveTo>
                    <a:pt x="1574" y="1"/>
                  </a:moveTo>
                  <a:cubicBezTo>
                    <a:pt x="705" y="1"/>
                    <a:pt x="0" y="689"/>
                    <a:pt x="0" y="1558"/>
                  </a:cubicBezTo>
                  <a:lnTo>
                    <a:pt x="0" y="56895"/>
                  </a:lnTo>
                  <a:cubicBezTo>
                    <a:pt x="0" y="57764"/>
                    <a:pt x="705" y="58452"/>
                    <a:pt x="1574" y="58452"/>
                  </a:cubicBezTo>
                  <a:lnTo>
                    <a:pt x="80252" y="58452"/>
                  </a:lnTo>
                  <a:cubicBezTo>
                    <a:pt x="81121" y="58452"/>
                    <a:pt x="81826" y="57764"/>
                    <a:pt x="81826" y="56895"/>
                  </a:cubicBezTo>
                  <a:lnTo>
                    <a:pt x="81826" y="1558"/>
                  </a:lnTo>
                  <a:cubicBezTo>
                    <a:pt x="81826" y="689"/>
                    <a:pt x="81121" y="1"/>
                    <a:pt x="80252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71" name="Google Shape;571;p50"/>
            <p:cNvSpPr/>
            <p:nvPr/>
          </p:nvSpPr>
          <p:spPr>
            <a:xfrm>
              <a:off x="238125" y="1676700"/>
              <a:ext cx="2045650" cy="1390400"/>
            </a:xfrm>
            <a:custGeom>
              <a:avLst/>
              <a:gdLst/>
              <a:ahLst/>
              <a:cxnLst/>
              <a:rect l="l" t="t" r="r" b="b"/>
              <a:pathLst>
                <a:path w="81826" h="55616" extrusionOk="0">
                  <a:moveTo>
                    <a:pt x="2836" y="0"/>
                  </a:moveTo>
                  <a:cubicBezTo>
                    <a:pt x="1279" y="0"/>
                    <a:pt x="0" y="1279"/>
                    <a:pt x="0" y="2836"/>
                  </a:cubicBezTo>
                  <a:lnTo>
                    <a:pt x="0" y="55616"/>
                  </a:lnTo>
                  <a:lnTo>
                    <a:pt x="81826" y="55616"/>
                  </a:lnTo>
                  <a:lnTo>
                    <a:pt x="81826" y="2836"/>
                  </a:lnTo>
                  <a:cubicBezTo>
                    <a:pt x="81826" y="1279"/>
                    <a:pt x="80547" y="0"/>
                    <a:pt x="789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72" name="Google Shape;572;p50"/>
            <p:cNvSpPr/>
            <p:nvPr/>
          </p:nvSpPr>
          <p:spPr>
            <a:xfrm>
              <a:off x="346300" y="1773800"/>
              <a:ext cx="1829300" cy="1140050"/>
            </a:xfrm>
            <a:custGeom>
              <a:avLst/>
              <a:gdLst/>
              <a:ahLst/>
              <a:cxnLst/>
              <a:rect l="l" t="t" r="r" b="b"/>
              <a:pathLst>
                <a:path w="73172" h="45602" extrusionOk="0">
                  <a:moveTo>
                    <a:pt x="426" y="1"/>
                  </a:moveTo>
                  <a:cubicBezTo>
                    <a:pt x="197" y="1"/>
                    <a:pt x="0" y="181"/>
                    <a:pt x="0" y="411"/>
                  </a:cubicBezTo>
                  <a:lnTo>
                    <a:pt x="0" y="45175"/>
                  </a:lnTo>
                  <a:cubicBezTo>
                    <a:pt x="0" y="45405"/>
                    <a:pt x="197" y="45601"/>
                    <a:pt x="426" y="45601"/>
                  </a:cubicBezTo>
                  <a:lnTo>
                    <a:pt x="72745" y="45601"/>
                  </a:lnTo>
                  <a:cubicBezTo>
                    <a:pt x="72975" y="45601"/>
                    <a:pt x="73171" y="45405"/>
                    <a:pt x="73171" y="45175"/>
                  </a:cubicBezTo>
                  <a:lnTo>
                    <a:pt x="73171" y="411"/>
                  </a:lnTo>
                  <a:cubicBezTo>
                    <a:pt x="73171" y="181"/>
                    <a:pt x="72975" y="1"/>
                    <a:pt x="72745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73" name="Google Shape;573;p50"/>
            <p:cNvSpPr/>
            <p:nvPr/>
          </p:nvSpPr>
          <p:spPr>
            <a:xfrm>
              <a:off x="1244550" y="1708650"/>
              <a:ext cx="28700" cy="24925"/>
            </a:xfrm>
            <a:custGeom>
              <a:avLst/>
              <a:gdLst/>
              <a:ahLst/>
              <a:cxnLst/>
              <a:rect l="l" t="t" r="r" b="b"/>
              <a:pathLst>
                <a:path w="1148" h="997" extrusionOk="0">
                  <a:moveTo>
                    <a:pt x="656" y="1"/>
                  </a:moveTo>
                  <a:cubicBezTo>
                    <a:pt x="213" y="1"/>
                    <a:pt x="0" y="541"/>
                    <a:pt x="312" y="853"/>
                  </a:cubicBezTo>
                  <a:cubicBezTo>
                    <a:pt x="411" y="952"/>
                    <a:pt x="532" y="996"/>
                    <a:pt x="650" y="996"/>
                  </a:cubicBezTo>
                  <a:cubicBezTo>
                    <a:pt x="904" y="996"/>
                    <a:pt x="1147" y="794"/>
                    <a:pt x="1147" y="492"/>
                  </a:cubicBezTo>
                  <a:cubicBezTo>
                    <a:pt x="1147" y="230"/>
                    <a:pt x="934" y="1"/>
                    <a:pt x="656" y="1"/>
                  </a:cubicBezTo>
                  <a:close/>
                </a:path>
              </a:pathLst>
            </a:custGeom>
            <a:solidFill>
              <a:srgbClr val="363C4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575" name="Google Shape;575;p50"/>
          <p:cNvGrpSpPr/>
          <p:nvPr/>
        </p:nvGrpSpPr>
        <p:grpSpPr>
          <a:xfrm>
            <a:off x="1889583" y="2483222"/>
            <a:ext cx="2009139" cy="2668695"/>
            <a:chOff x="3580725" y="2020075"/>
            <a:chExt cx="1344925" cy="1786275"/>
          </a:xfrm>
        </p:grpSpPr>
        <p:sp>
          <p:nvSpPr>
            <p:cNvPr id="576" name="Google Shape;576;p50"/>
            <p:cNvSpPr/>
            <p:nvPr/>
          </p:nvSpPr>
          <p:spPr>
            <a:xfrm>
              <a:off x="3681925" y="2020075"/>
              <a:ext cx="1243725" cy="1786275"/>
            </a:xfrm>
            <a:custGeom>
              <a:avLst/>
              <a:gdLst/>
              <a:ahLst/>
              <a:cxnLst/>
              <a:rect l="l" t="t" r="r" b="b"/>
              <a:pathLst>
                <a:path w="49749" h="71451" extrusionOk="0">
                  <a:moveTo>
                    <a:pt x="1574" y="1"/>
                  </a:moveTo>
                  <a:cubicBezTo>
                    <a:pt x="706" y="1"/>
                    <a:pt x="1" y="706"/>
                    <a:pt x="1" y="1574"/>
                  </a:cubicBezTo>
                  <a:lnTo>
                    <a:pt x="1" y="69877"/>
                  </a:lnTo>
                  <a:cubicBezTo>
                    <a:pt x="1" y="70746"/>
                    <a:pt x="706" y="71451"/>
                    <a:pt x="1574" y="71451"/>
                  </a:cubicBezTo>
                  <a:lnTo>
                    <a:pt x="48175" y="71451"/>
                  </a:lnTo>
                  <a:cubicBezTo>
                    <a:pt x="49044" y="71451"/>
                    <a:pt x="49748" y="70746"/>
                    <a:pt x="49748" y="69877"/>
                  </a:cubicBezTo>
                  <a:lnTo>
                    <a:pt x="49748" y="1574"/>
                  </a:lnTo>
                  <a:cubicBezTo>
                    <a:pt x="49748" y="706"/>
                    <a:pt x="49044" y="1"/>
                    <a:pt x="48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77" name="Google Shape;577;p50"/>
            <p:cNvSpPr/>
            <p:nvPr/>
          </p:nvSpPr>
          <p:spPr>
            <a:xfrm>
              <a:off x="3580725" y="2020075"/>
              <a:ext cx="1250250" cy="1786275"/>
            </a:xfrm>
            <a:custGeom>
              <a:avLst/>
              <a:gdLst/>
              <a:ahLst/>
              <a:cxnLst/>
              <a:rect l="l" t="t" r="r" b="b"/>
              <a:pathLst>
                <a:path w="50010" h="71451" extrusionOk="0">
                  <a:moveTo>
                    <a:pt x="2527" y="1"/>
                  </a:moveTo>
                  <a:cubicBezTo>
                    <a:pt x="1147" y="1"/>
                    <a:pt x="33" y="1109"/>
                    <a:pt x="0" y="2492"/>
                  </a:cubicBezTo>
                  <a:lnTo>
                    <a:pt x="0" y="68975"/>
                  </a:lnTo>
                  <a:cubicBezTo>
                    <a:pt x="33" y="70358"/>
                    <a:pt x="1147" y="71451"/>
                    <a:pt x="2526" y="71451"/>
                  </a:cubicBezTo>
                  <a:cubicBezTo>
                    <a:pt x="2537" y="71451"/>
                    <a:pt x="2547" y="71451"/>
                    <a:pt x="2557" y="71451"/>
                  </a:cubicBezTo>
                  <a:lnTo>
                    <a:pt x="50010" y="71451"/>
                  </a:lnTo>
                  <a:lnTo>
                    <a:pt x="50010" y="1"/>
                  </a:lnTo>
                  <a:lnTo>
                    <a:pt x="2557" y="1"/>
                  </a:lnTo>
                  <a:cubicBezTo>
                    <a:pt x="2547" y="1"/>
                    <a:pt x="2537" y="1"/>
                    <a:pt x="25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78" name="Google Shape;578;p50"/>
            <p:cNvSpPr/>
            <p:nvPr/>
          </p:nvSpPr>
          <p:spPr>
            <a:xfrm>
              <a:off x="3680303" y="2113921"/>
              <a:ext cx="1140025" cy="1511564"/>
            </a:xfrm>
            <a:custGeom>
              <a:avLst/>
              <a:gdLst/>
              <a:ahLst/>
              <a:cxnLst/>
              <a:rect l="l" t="t" r="r" b="b"/>
              <a:pathLst>
                <a:path w="45601" h="60944" extrusionOk="0">
                  <a:moveTo>
                    <a:pt x="426" y="1"/>
                  </a:moveTo>
                  <a:cubicBezTo>
                    <a:pt x="197" y="1"/>
                    <a:pt x="0" y="181"/>
                    <a:pt x="0" y="427"/>
                  </a:cubicBezTo>
                  <a:lnTo>
                    <a:pt x="0" y="60534"/>
                  </a:lnTo>
                  <a:cubicBezTo>
                    <a:pt x="0" y="60763"/>
                    <a:pt x="197" y="60943"/>
                    <a:pt x="426" y="60943"/>
                  </a:cubicBezTo>
                  <a:lnTo>
                    <a:pt x="45191" y="60943"/>
                  </a:lnTo>
                  <a:cubicBezTo>
                    <a:pt x="45421" y="60943"/>
                    <a:pt x="45601" y="60763"/>
                    <a:pt x="45601" y="60534"/>
                  </a:cubicBezTo>
                  <a:lnTo>
                    <a:pt x="45601" y="427"/>
                  </a:lnTo>
                  <a:cubicBezTo>
                    <a:pt x="45601" y="181"/>
                    <a:pt x="45421" y="1"/>
                    <a:pt x="45191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79" name="Google Shape;579;p50"/>
            <p:cNvSpPr/>
            <p:nvPr/>
          </p:nvSpPr>
          <p:spPr>
            <a:xfrm>
              <a:off x="4193750" y="2051650"/>
              <a:ext cx="28700" cy="24925"/>
            </a:xfrm>
            <a:custGeom>
              <a:avLst/>
              <a:gdLst/>
              <a:ahLst/>
              <a:cxnLst/>
              <a:rect l="l" t="t" r="r" b="b"/>
              <a:pathLst>
                <a:path w="1148" h="997" extrusionOk="0">
                  <a:moveTo>
                    <a:pt x="492" y="0"/>
                  </a:moveTo>
                  <a:cubicBezTo>
                    <a:pt x="214" y="0"/>
                    <a:pt x="0" y="230"/>
                    <a:pt x="0" y="508"/>
                  </a:cubicBezTo>
                  <a:cubicBezTo>
                    <a:pt x="0" y="798"/>
                    <a:pt x="243" y="996"/>
                    <a:pt x="496" y="996"/>
                  </a:cubicBezTo>
                  <a:cubicBezTo>
                    <a:pt x="615" y="996"/>
                    <a:pt x="737" y="952"/>
                    <a:pt x="836" y="852"/>
                  </a:cubicBezTo>
                  <a:cubicBezTo>
                    <a:pt x="1148" y="541"/>
                    <a:pt x="935" y="0"/>
                    <a:pt x="492" y="0"/>
                  </a:cubicBezTo>
                  <a:close/>
                </a:path>
              </a:pathLst>
            </a:custGeom>
            <a:solidFill>
              <a:srgbClr val="363C4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80" name="Google Shape;580;p50"/>
            <p:cNvSpPr/>
            <p:nvPr/>
          </p:nvSpPr>
          <p:spPr>
            <a:xfrm>
              <a:off x="4179825" y="3667150"/>
              <a:ext cx="125000" cy="106825"/>
            </a:xfrm>
            <a:custGeom>
              <a:avLst/>
              <a:gdLst/>
              <a:ahLst/>
              <a:cxnLst/>
              <a:rect l="l" t="t" r="r" b="b"/>
              <a:pathLst>
                <a:path w="5000" h="4273" extrusionOk="0">
                  <a:moveTo>
                    <a:pt x="2869" y="355"/>
                  </a:moveTo>
                  <a:cubicBezTo>
                    <a:pt x="3836" y="355"/>
                    <a:pt x="4639" y="1158"/>
                    <a:pt x="4639" y="2142"/>
                  </a:cubicBezTo>
                  <a:cubicBezTo>
                    <a:pt x="4639" y="3206"/>
                    <a:pt x="3762" y="3917"/>
                    <a:pt x="2850" y="3917"/>
                  </a:cubicBezTo>
                  <a:cubicBezTo>
                    <a:pt x="2413" y="3917"/>
                    <a:pt x="1968" y="3754"/>
                    <a:pt x="1607" y="3387"/>
                  </a:cubicBezTo>
                  <a:cubicBezTo>
                    <a:pt x="492" y="2273"/>
                    <a:pt x="1279" y="355"/>
                    <a:pt x="2869" y="355"/>
                  </a:cubicBezTo>
                  <a:close/>
                  <a:moveTo>
                    <a:pt x="2849" y="1"/>
                  </a:moveTo>
                  <a:cubicBezTo>
                    <a:pt x="2320" y="1"/>
                    <a:pt x="1781" y="197"/>
                    <a:pt x="1344" y="634"/>
                  </a:cubicBezTo>
                  <a:cubicBezTo>
                    <a:pt x="0" y="1978"/>
                    <a:pt x="967" y="4273"/>
                    <a:pt x="2869" y="4273"/>
                  </a:cubicBezTo>
                  <a:cubicBezTo>
                    <a:pt x="4049" y="4273"/>
                    <a:pt x="5000" y="3306"/>
                    <a:pt x="5000" y="2142"/>
                  </a:cubicBezTo>
                  <a:cubicBezTo>
                    <a:pt x="5000" y="847"/>
                    <a:pt x="3946" y="1"/>
                    <a:pt x="28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582" name="Google Shape;582;p50"/>
          <p:cNvGrpSpPr/>
          <p:nvPr/>
        </p:nvGrpSpPr>
        <p:grpSpPr>
          <a:xfrm>
            <a:off x="8842634" y="2479527"/>
            <a:ext cx="1459783" cy="2668796"/>
            <a:chOff x="6417224" y="2247097"/>
            <a:chExt cx="951950" cy="1740368"/>
          </a:xfrm>
        </p:grpSpPr>
        <p:sp>
          <p:nvSpPr>
            <p:cNvPr id="583" name="Google Shape;583;p50"/>
            <p:cNvSpPr/>
            <p:nvPr/>
          </p:nvSpPr>
          <p:spPr>
            <a:xfrm>
              <a:off x="6505324" y="2247511"/>
              <a:ext cx="863850" cy="1739954"/>
            </a:xfrm>
            <a:custGeom>
              <a:avLst/>
              <a:gdLst/>
              <a:ahLst/>
              <a:cxnLst/>
              <a:rect l="l" t="t" r="r" b="b"/>
              <a:pathLst>
                <a:path w="34554" h="71434" extrusionOk="0">
                  <a:moveTo>
                    <a:pt x="1575" y="0"/>
                  </a:moveTo>
                  <a:cubicBezTo>
                    <a:pt x="706" y="0"/>
                    <a:pt x="1" y="689"/>
                    <a:pt x="1" y="1557"/>
                  </a:cubicBezTo>
                  <a:lnTo>
                    <a:pt x="1" y="69876"/>
                  </a:lnTo>
                  <a:cubicBezTo>
                    <a:pt x="1" y="70728"/>
                    <a:pt x="706" y="71433"/>
                    <a:pt x="1575" y="71433"/>
                  </a:cubicBezTo>
                  <a:lnTo>
                    <a:pt x="32980" y="71433"/>
                  </a:lnTo>
                  <a:cubicBezTo>
                    <a:pt x="33849" y="71433"/>
                    <a:pt x="34554" y="70728"/>
                    <a:pt x="34554" y="69876"/>
                  </a:cubicBezTo>
                  <a:lnTo>
                    <a:pt x="34554" y="1557"/>
                  </a:lnTo>
                  <a:cubicBezTo>
                    <a:pt x="34554" y="689"/>
                    <a:pt x="33849" y="0"/>
                    <a:pt x="329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84" name="Google Shape;584;p50"/>
            <p:cNvSpPr/>
            <p:nvPr/>
          </p:nvSpPr>
          <p:spPr>
            <a:xfrm>
              <a:off x="6417224" y="2247097"/>
              <a:ext cx="868375" cy="1740368"/>
            </a:xfrm>
            <a:custGeom>
              <a:avLst/>
              <a:gdLst/>
              <a:ahLst/>
              <a:cxnLst/>
              <a:rect l="l" t="t" r="r" b="b"/>
              <a:pathLst>
                <a:path w="34735" h="71451" extrusionOk="0">
                  <a:moveTo>
                    <a:pt x="1787" y="1"/>
                  </a:moveTo>
                  <a:cubicBezTo>
                    <a:pt x="804" y="1"/>
                    <a:pt x="1" y="1115"/>
                    <a:pt x="1" y="2492"/>
                  </a:cubicBezTo>
                  <a:lnTo>
                    <a:pt x="1" y="68975"/>
                  </a:lnTo>
                  <a:cubicBezTo>
                    <a:pt x="1" y="70336"/>
                    <a:pt x="804" y="71450"/>
                    <a:pt x="1787" y="71450"/>
                  </a:cubicBezTo>
                  <a:lnTo>
                    <a:pt x="34734" y="71450"/>
                  </a:lnTo>
                  <a:lnTo>
                    <a:pt x="347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85" name="Google Shape;585;p50"/>
            <p:cNvSpPr/>
            <p:nvPr/>
          </p:nvSpPr>
          <p:spPr>
            <a:xfrm>
              <a:off x="6492619" y="2340952"/>
              <a:ext cx="813450" cy="1457323"/>
            </a:xfrm>
            <a:custGeom>
              <a:avLst/>
              <a:gdLst/>
              <a:ahLst/>
              <a:cxnLst/>
              <a:rect l="l" t="t" r="r" b="b"/>
              <a:pathLst>
                <a:path w="32538" h="60944" extrusionOk="0">
                  <a:moveTo>
                    <a:pt x="427" y="0"/>
                  </a:moveTo>
                  <a:cubicBezTo>
                    <a:pt x="198" y="0"/>
                    <a:pt x="1" y="197"/>
                    <a:pt x="1" y="426"/>
                  </a:cubicBezTo>
                  <a:lnTo>
                    <a:pt x="1" y="60533"/>
                  </a:lnTo>
                  <a:cubicBezTo>
                    <a:pt x="1" y="60763"/>
                    <a:pt x="198" y="60943"/>
                    <a:pt x="427" y="60943"/>
                  </a:cubicBezTo>
                  <a:lnTo>
                    <a:pt x="32128" y="60943"/>
                  </a:lnTo>
                  <a:cubicBezTo>
                    <a:pt x="32357" y="60943"/>
                    <a:pt x="32538" y="60763"/>
                    <a:pt x="32538" y="60533"/>
                  </a:cubicBezTo>
                  <a:lnTo>
                    <a:pt x="32538" y="426"/>
                  </a:lnTo>
                  <a:cubicBezTo>
                    <a:pt x="32538" y="197"/>
                    <a:pt x="32357" y="0"/>
                    <a:pt x="3212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86" name="Google Shape;586;p50"/>
            <p:cNvSpPr/>
            <p:nvPr/>
          </p:nvSpPr>
          <p:spPr>
            <a:xfrm>
              <a:off x="6856100" y="3843492"/>
              <a:ext cx="96750" cy="83150"/>
            </a:xfrm>
            <a:custGeom>
              <a:avLst/>
              <a:gdLst/>
              <a:ahLst/>
              <a:cxnLst/>
              <a:rect l="l" t="t" r="r" b="b"/>
              <a:pathLst>
                <a:path w="3870" h="3326" extrusionOk="0">
                  <a:moveTo>
                    <a:pt x="2214" y="358"/>
                  </a:moveTo>
                  <a:lnTo>
                    <a:pt x="2214" y="375"/>
                  </a:lnTo>
                  <a:cubicBezTo>
                    <a:pt x="2935" y="375"/>
                    <a:pt x="3509" y="948"/>
                    <a:pt x="3525" y="1670"/>
                  </a:cubicBezTo>
                  <a:cubicBezTo>
                    <a:pt x="3525" y="2456"/>
                    <a:pt x="2882" y="2973"/>
                    <a:pt x="2212" y="2973"/>
                  </a:cubicBezTo>
                  <a:cubicBezTo>
                    <a:pt x="1890" y="2973"/>
                    <a:pt x="1562" y="2853"/>
                    <a:pt x="1296" y="2587"/>
                  </a:cubicBezTo>
                  <a:cubicBezTo>
                    <a:pt x="476" y="1768"/>
                    <a:pt x="1066" y="358"/>
                    <a:pt x="2214" y="358"/>
                  </a:cubicBezTo>
                  <a:close/>
                  <a:moveTo>
                    <a:pt x="2197" y="1"/>
                  </a:moveTo>
                  <a:cubicBezTo>
                    <a:pt x="1793" y="1"/>
                    <a:pt x="1383" y="152"/>
                    <a:pt x="1050" y="489"/>
                  </a:cubicBezTo>
                  <a:cubicBezTo>
                    <a:pt x="1" y="1538"/>
                    <a:pt x="739" y="3325"/>
                    <a:pt x="2214" y="3325"/>
                  </a:cubicBezTo>
                  <a:cubicBezTo>
                    <a:pt x="3132" y="3325"/>
                    <a:pt x="3869" y="2587"/>
                    <a:pt x="3869" y="1670"/>
                  </a:cubicBezTo>
                  <a:cubicBezTo>
                    <a:pt x="3869" y="669"/>
                    <a:pt x="3048" y="1"/>
                    <a:pt x="21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87" name="Google Shape;587;p50"/>
            <p:cNvSpPr/>
            <p:nvPr/>
          </p:nvSpPr>
          <p:spPr>
            <a:xfrm>
              <a:off x="6623350" y="3880717"/>
              <a:ext cx="82800" cy="9025"/>
            </a:xfrm>
            <a:custGeom>
              <a:avLst/>
              <a:gdLst/>
              <a:ahLst/>
              <a:cxnLst/>
              <a:rect l="l" t="t" r="r" b="b"/>
              <a:pathLst>
                <a:path w="3312" h="361" extrusionOk="0">
                  <a:moveTo>
                    <a:pt x="1" y="0"/>
                  </a:moveTo>
                  <a:lnTo>
                    <a:pt x="1" y="361"/>
                  </a:lnTo>
                  <a:lnTo>
                    <a:pt x="3312" y="361"/>
                  </a:lnTo>
                  <a:lnTo>
                    <a:pt x="331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88" name="Google Shape;588;p50"/>
            <p:cNvSpPr/>
            <p:nvPr/>
          </p:nvSpPr>
          <p:spPr>
            <a:xfrm>
              <a:off x="7116325" y="3860642"/>
              <a:ext cx="60675" cy="48775"/>
            </a:xfrm>
            <a:custGeom>
              <a:avLst/>
              <a:gdLst/>
              <a:ahLst/>
              <a:cxnLst/>
              <a:rect l="l" t="t" r="r" b="b"/>
              <a:pathLst>
                <a:path w="2427" h="1951" extrusionOk="0">
                  <a:moveTo>
                    <a:pt x="2328" y="0"/>
                  </a:moveTo>
                  <a:lnTo>
                    <a:pt x="328" y="656"/>
                  </a:lnTo>
                  <a:cubicBezTo>
                    <a:pt x="148" y="688"/>
                    <a:pt x="0" y="836"/>
                    <a:pt x="0" y="1033"/>
                  </a:cubicBezTo>
                  <a:cubicBezTo>
                    <a:pt x="0" y="1197"/>
                    <a:pt x="132" y="1328"/>
                    <a:pt x="361" y="1393"/>
                  </a:cubicBezTo>
                  <a:lnTo>
                    <a:pt x="2328" y="1951"/>
                  </a:lnTo>
                  <a:lnTo>
                    <a:pt x="2426" y="1606"/>
                  </a:lnTo>
                  <a:lnTo>
                    <a:pt x="459" y="1049"/>
                  </a:lnTo>
                  <a:cubicBezTo>
                    <a:pt x="427" y="1049"/>
                    <a:pt x="394" y="1033"/>
                    <a:pt x="377" y="1016"/>
                  </a:cubicBezTo>
                  <a:lnTo>
                    <a:pt x="427" y="1000"/>
                  </a:lnTo>
                  <a:lnTo>
                    <a:pt x="2426" y="344"/>
                  </a:lnTo>
                  <a:lnTo>
                    <a:pt x="23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89" name="Google Shape;589;p50"/>
            <p:cNvSpPr/>
            <p:nvPr/>
          </p:nvSpPr>
          <p:spPr>
            <a:xfrm>
              <a:off x="6767200" y="2287275"/>
              <a:ext cx="238100" cy="14350"/>
            </a:xfrm>
            <a:custGeom>
              <a:avLst/>
              <a:gdLst/>
              <a:ahLst/>
              <a:cxnLst/>
              <a:rect l="l" t="t" r="r" b="b"/>
              <a:pathLst>
                <a:path w="9524" h="574" extrusionOk="0">
                  <a:moveTo>
                    <a:pt x="164" y="0"/>
                  </a:moveTo>
                  <a:cubicBezTo>
                    <a:pt x="82" y="0"/>
                    <a:pt x="0" y="82"/>
                    <a:pt x="0" y="164"/>
                  </a:cubicBezTo>
                  <a:lnTo>
                    <a:pt x="0" y="410"/>
                  </a:lnTo>
                  <a:cubicBezTo>
                    <a:pt x="0" y="492"/>
                    <a:pt x="82" y="574"/>
                    <a:pt x="164" y="574"/>
                  </a:cubicBezTo>
                  <a:lnTo>
                    <a:pt x="9359" y="574"/>
                  </a:lnTo>
                  <a:cubicBezTo>
                    <a:pt x="9458" y="574"/>
                    <a:pt x="9523" y="492"/>
                    <a:pt x="9523" y="410"/>
                  </a:cubicBezTo>
                  <a:lnTo>
                    <a:pt x="9523" y="164"/>
                  </a:lnTo>
                  <a:cubicBezTo>
                    <a:pt x="9523" y="82"/>
                    <a:pt x="9458" y="0"/>
                    <a:pt x="93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cxnSp>
        <p:nvCxnSpPr>
          <p:cNvPr id="592" name="Google Shape;592;p50"/>
          <p:cNvCxnSpPr/>
          <p:nvPr/>
        </p:nvCxnSpPr>
        <p:spPr>
          <a:xfrm rot="10800000">
            <a:off x="4386833" y="5816433"/>
            <a:ext cx="0" cy="125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600C72C-8019-B5EA-7D5C-C00E3D1E86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2633" y="2479527"/>
            <a:ext cx="1485265" cy="26681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25FF66-9420-EBDC-8532-6B12F79E1C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102" y="2437064"/>
            <a:ext cx="2054145" cy="33793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4D2532-F4BD-5156-82A5-4B7829B25C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847" y="1781852"/>
            <a:ext cx="4097891" cy="24112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598;p51"/>
          <p:cNvSpPr txBox="1">
            <a:spLocks noGrp="1"/>
          </p:cNvSpPr>
          <p:nvPr>
            <p:ph type="ctrTitle" idx="4294967295"/>
          </p:nvPr>
        </p:nvSpPr>
        <p:spPr>
          <a:xfrm flipH="1">
            <a:off x="4448987" y="1849104"/>
            <a:ext cx="6927600" cy="1820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rtl="1">
              <a:spcBef>
                <a:spcPts val="0"/>
              </a:spcBef>
            </a:pPr>
            <a:r>
              <a:rPr lang="fa-IR" sz="5867" dirty="0">
                <a:cs typeface="B Titr" panose="00000700000000000000" pitchFamily="2" charset="-78"/>
              </a:rPr>
              <a:t>با سپاس از توجه شما</a:t>
            </a:r>
            <a:endParaRPr sz="5867" dirty="0"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38556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692</Words>
  <Application>Microsoft Office PowerPoint</Application>
  <PresentationFormat>Widescreen</PresentationFormat>
  <Paragraphs>118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B Nazanin</vt:lpstr>
      <vt:lpstr>B Titr</vt:lpstr>
      <vt:lpstr>Calibri</vt:lpstr>
      <vt:lpstr>Calibri Light</vt:lpstr>
      <vt:lpstr>Mistral</vt:lpstr>
      <vt:lpstr>Office Theme</vt:lpstr>
      <vt:lpstr>ساخت بازی ماشین</vt:lpstr>
      <vt:lpstr>PowerPoint Presentation</vt:lpstr>
      <vt:lpstr>1</vt:lpstr>
      <vt:lpstr>PowerPoint Presentation</vt:lpstr>
      <vt:lpstr>PowerPoint Presentation</vt:lpstr>
      <vt:lpstr>بخش Block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برنامه</vt:lpstr>
      <vt:lpstr>با سپاس از توجه شما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Alireza</dc:creator>
  <cp:lastModifiedBy>Alireza</cp:lastModifiedBy>
  <cp:revision>5</cp:revision>
  <dcterms:created xsi:type="dcterms:W3CDTF">2026-01-05T12:32:58Z</dcterms:created>
  <dcterms:modified xsi:type="dcterms:W3CDTF">2026-06-10T09:27:24Z</dcterms:modified>
</cp:coreProperties>
</file>